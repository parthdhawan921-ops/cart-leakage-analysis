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c415e1b-40ab-de45-90d6-fe4fe0e7487a}">
          <p14:sldIdLst>
            <p14:sldId id="256"/>
          </p14:sldIdLst>
        </p14:section>
        <p14:section name="Answer" id="{a68a9d24-716f-8d62-c558-2ab49bb7571d}">
          <p14:sldIdLst>
            <p14:sldId id="257"/>
          </p14:sldIdLst>
        </p14:section>
        <p14:section name="Approach" id="{9723a224-0d6d-6f04-402b-d79354b5b58d}">
          <p14:sldIdLst>
            <p14:sldId id="258"/>
            <p14:sldId id="259"/>
          </p14:sldIdLst>
        </p14:section>
        <p14:section name="Findings" id="{5940082b-9a3b-2fdc-3ab1-6d31bfb30658}">
          <p14:sldIdLst>
            <p14:sldId id="260"/>
            <p14:sldId id="261"/>
            <p14:sldId id="262"/>
            <p14:sldId id="263"/>
          </p14:sldIdLst>
        </p14:section>
        <p14:section name="Recommendation" id="{cd4d2f81-4f03-7cd1-1239-850b17b8a9bb}">
          <p14:sldIdLst>
            <p14:sldId id="264"/>
            <p14:sldId id="265"/>
          </p14:sldIdLst>
        </p14:section>
        <p14:section name="Close" id="{bad21875-0df2-e2fa-26ae-6dd7de27d203}">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31B2E"/>
                </a:solidFill>
                <a:latin typeface="+mn-lt"/>
              </a:defRPr>
            </a:pPr>
            <a:r>
              <a:rPr sz="1300" b="0" i="0" u="none" strike="noStrike">
                <a:solidFill>
                  <a:srgbClr val="231B2E"/>
                </a:solidFill>
                <a:latin typeface="+mn-lt"/>
              </a:rPr>
              <a:t>Users at each step, Oct 2019 to Feb 2020</a:t>
            </a:r>
          </a:p>
        </c:rich>
      </c:tx>
      <c:layout/>
      <c:overlay val="0"/>
    </c:title>
    <c:autoTitleDeleted val="0"/>
    <c:plotArea>
      <c:layout/>
      <c:barChart>
        <c:barDir val="bar"/>
        <c:grouping val="clustered"/>
        <c:varyColors val="0"/>
        <c:ser>
          <c:idx val="0"/>
          <c:order val="0"/>
          <c:tx>
            <c:strRef>
              <c:f>Sheet1!$B$1</c:f>
              <c:strCache>
                <c:ptCount val="1"/>
                <c:pt idx="0">
                  <c:v>Users</c:v>
                </c:pt>
              </c:strCache>
            </c:strRef>
          </c:tx>
          <c:spPr>
            <a:solidFill>
              <a:srgbClr val="C9B8E0"/>
            </a:solidFill>
            <a:effectLst/>
          </c:spPr>
          <c:invertIfNegative val="0"/>
          <c:dLbls>
            <c:numFmt formatCode="#,##0,&quot;K&quot;" sourceLinked="0"/>
            <c:txPr>
              <a:bodyPr/>
              <a:lstStyle/>
              <a:p>
                <a:pPr>
                  <a:defRPr b="1" i="0" strike="noStrike" sz="1300" u="none">
                    <a:solidFill>
                      <a:srgbClr val="231B2E"/>
                    </a:solidFill>
                    <a:latin typeface="+mn-lt"/>
                  </a:defRPr>
                </a:pPr>
              </a:p>
            </c:txPr>
            <c:showLegendKey val="0"/>
            <c:showVal val="1"/>
            <c:showCatName val="0"/>
            <c:showSerName val="0"/>
            <c:showPercent val="0"/>
            <c:showBubbleSize val="0"/>
            <c:showLeaderLines val="0"/>
          </c:dLbls>
          <c:dPt>
            <c:idx val="0"/>
            <c:invertIfNegative val="0"/>
            <c:bubble3D val="0"/>
            <c:spPr>
              <a:solidFill>
                <a:srgbClr val="C9B8E0"/>
              </a:solidFill>
              <a:effectLst/>
            </c:spPr>
          </c:dPt>
          <c:dPt>
            <c:idx val="1"/>
            <c:invertIfNegative val="0"/>
            <c:bubble3D val="0"/>
            <c:spPr>
              <a:solidFill>
                <a:srgbClr val="E8A631"/>
              </a:solidFill>
              <a:effectLst/>
            </c:spPr>
          </c:dPt>
          <c:dPt>
            <c:idx val="2"/>
            <c:invertIfNegative val="0"/>
            <c:bubble3D val="0"/>
            <c:spPr>
              <a:solidFill>
                <a:srgbClr val="1F8F7E"/>
              </a:solidFill>
              <a:effectLst/>
            </c:spPr>
          </c:dPt>
          <c:cat>
            <c:multiLvlStrRef>
              <c:f>Sheet1!$A$2:$A$4</c:f>
              <c:multiLvlStrCache>
                <c:ptCount val="3"/>
                <c:lvl>
                  <c:pt idx="0">
                    <c:v>Viewed a product</c:v>
                  </c:pt>
                  <c:pt idx="1">
                    <c:v>Added to cart</c:v>
                  </c:pt>
                  <c:pt idx="2">
                    <c:v>Bought</c:v>
                  </c:pt>
                </c:lvl>
              </c:multiLvlStrCache>
            </c:multiLvlStrRef>
          </c:cat>
          <c:val>
            <c:numRef>
              <c:f>Sheet1!$B$2:$B$4</c:f>
              <c:numCache>
                <c:formatCode>General</c:formatCode>
                <c:ptCount val="3"/>
                <c:pt idx="0">
                  <c:v>1596371</c:v>
                </c:pt>
                <c:pt idx="1">
                  <c:v>397496</c:v>
                </c:pt>
                <c:pt idx="2">
                  <c:v>110518</c:v>
                </c:pt>
              </c:numCache>
            </c:numRef>
          </c:val>
        </c:ser>
        <c:dLbls>
          <c:numFmt formatCode="#,##0,&quot;K&quot;" sourceLinked="0"/>
          <c:txPr>
            <a:bodyPr/>
            <a:lstStyle/>
            <a:p>
              <a:pPr>
                <a:defRPr b="1" i="0" strike="noStrike" sz="1300" u="none">
                  <a:solidFill>
                    <a:srgbClr val="231B2E"/>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647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47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Top 23 categories</c:v>
                </c:pt>
              </c:strCache>
            </c:strRef>
          </c:tx>
          <c:spPr>
            <a:solidFill>
              <a:srgbClr val="D9502E"/>
            </a:solidFill>
            <a:effectLst/>
          </c:spPr>
          <c:invertIfNegative val="0"/>
          <c:dLbls>
            <c:numFmt formatCode="0.#&quot;%&quot;" sourceLinked="0"/>
            <c:txPr>
              <a:bodyPr/>
              <a:lstStyle/>
              <a:p>
                <a:pPr>
                  <a:defRPr b="1" i="0" strike="noStrike" sz="1300" u="none">
                    <a:solidFill>
                      <a:srgbClr val="231B2E"/>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Share of categories</c:v>
                  </c:pt>
                  <c:pt idx="1">
                    <c:v>Share of unbought value</c:v>
                  </c:pt>
                </c:lvl>
              </c:multiLvlStrCache>
            </c:multiLvlStrRef>
          </c:cat>
          <c:val>
            <c:numRef>
              <c:f>Sheet1!$B$2:$B$3</c:f>
              <c:numCache>
                <c:formatCode>General</c:formatCode>
                <c:ptCount val="2"/>
                <c:pt idx="0">
                  <c:v>4.9</c:v>
                </c:pt>
                <c:pt idx="1">
                  <c:v>50</c:v>
                </c:pt>
              </c:numCache>
            </c:numRef>
          </c:val>
        </c:ser>
        <c:ser>
          <c:idx val="1"/>
          <c:order val="1"/>
          <c:tx>
            <c:strRef>
              <c:f>Sheet1!$C$1</c:f>
              <c:strCache>
                <c:ptCount val="1"/>
                <c:pt idx="0">
                  <c:v>Next 60</c:v>
                </c:pt>
              </c:strCache>
            </c:strRef>
          </c:tx>
          <c:spPr>
            <a:solidFill>
              <a:srgbClr val="E8A631"/>
            </a:solidFill>
            <a:effectLst/>
          </c:spPr>
          <c:invertIfNegative val="0"/>
          <c:dLbls>
            <c:numFmt formatCode="0.#&quot;%&quot;" sourceLinked="0"/>
            <c:txPr>
              <a:bodyPr/>
              <a:lstStyle/>
              <a:p>
                <a:pPr>
                  <a:defRPr b="1" i="0" strike="noStrike" sz="1300" u="none">
                    <a:solidFill>
                      <a:srgbClr val="231B2E"/>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Share of categories</c:v>
                  </c:pt>
                  <c:pt idx="1">
                    <c:v>Share of unbought value</c:v>
                  </c:pt>
                </c:lvl>
              </c:multiLvlStrCache>
            </c:multiLvlStrRef>
          </c:cat>
          <c:val>
            <c:numRef>
              <c:f>Sheet1!$C$2:$C$3</c:f>
              <c:numCache>
                <c:formatCode>General</c:formatCode>
                <c:ptCount val="2"/>
                <c:pt idx="0">
                  <c:v>12.9</c:v>
                </c:pt>
                <c:pt idx="1">
                  <c:v>30</c:v>
                </c:pt>
              </c:numCache>
            </c:numRef>
          </c:val>
        </c:ser>
        <c:ser>
          <c:idx val="2"/>
          <c:order val="2"/>
          <c:tx>
            <c:strRef>
              <c:f>Sheet1!$D$1</c:f>
              <c:strCache>
                <c:ptCount val="1"/>
                <c:pt idx="0">
                  <c:v>Other 382</c:v>
                </c:pt>
              </c:strCache>
            </c:strRef>
          </c:tx>
          <c:spPr>
            <a:solidFill>
              <a:srgbClr val="C9B8E0"/>
            </a:solidFill>
            <a:effectLst/>
          </c:spPr>
          <c:invertIfNegative val="0"/>
          <c:dLbls>
            <c:numFmt formatCode="0.#&quot;%&quot;" sourceLinked="0"/>
            <c:txPr>
              <a:bodyPr/>
              <a:lstStyle/>
              <a:p>
                <a:pPr>
                  <a:defRPr b="1" i="0" strike="noStrike" sz="1300" u="none">
                    <a:solidFill>
                      <a:srgbClr val="231B2E"/>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Share of categories</c:v>
                  </c:pt>
                  <c:pt idx="1">
                    <c:v>Share of unbought value</c:v>
                  </c:pt>
                </c:lvl>
              </c:multiLvlStrCache>
            </c:multiLvlStrRef>
          </c:cat>
          <c:val>
            <c:numRef>
              <c:f>Sheet1!$D$2:$D$3</c:f>
              <c:numCache>
                <c:formatCode>General</c:formatCode>
                <c:ptCount val="2"/>
                <c:pt idx="0">
                  <c:v>82.2</c:v>
                </c:pt>
                <c:pt idx="1">
                  <c:v>20</c:v>
                </c:pt>
              </c:numCache>
            </c:numRef>
          </c:val>
        </c:ser>
        <c:dLbls>
          <c:numFmt formatCode="0.#&quot;%&quot;" sourceLinked="0"/>
          <c:txPr>
            <a:bodyPr/>
            <a:lstStyle/>
            <a:p>
              <a:pPr>
                <a:defRPr b="1" i="0" strike="noStrike" sz="1300" u="none">
                  <a:solidFill>
                    <a:srgbClr val="231B2E"/>
                  </a:solidFill>
                  <a:latin typeface="+mn-lt"/>
                </a:defRPr>
              </a:pPr>
            </a:p>
          </c:txPr>
          <c:dLblPos val="ct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647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4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31B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31B2E"/>
                </a:solidFill>
                <a:latin typeface="+mn-lt"/>
              </a:defRPr>
            </a:pPr>
            <a:r>
              <a:rPr sz="1300" b="0" i="0" u="none" strike="noStrike">
                <a:solidFill>
                  <a:srgbClr val="231B2E"/>
                </a:solidFill>
                <a:latin typeface="+mn-lt"/>
              </a:rPr>
              <a:t>Share of unbought value, top named brands</a:t>
            </a:r>
          </a:p>
        </c:rich>
      </c:tx>
      <c:layout/>
      <c:overlay val="0"/>
    </c:title>
    <c:autoTitleDeleted val="0"/>
    <c:plotArea>
      <c:layout/>
      <c:barChart>
        <c:barDir val="col"/>
        <c:grouping val="clustered"/>
        <c:varyColors val="0"/>
        <c:ser>
          <c:idx val="0"/>
          <c:order val="0"/>
          <c:tx>
            <c:strRef>
              <c:f>Sheet1!$B$1</c:f>
              <c:strCache>
                <c:ptCount val="1"/>
                <c:pt idx="0">
                  <c:v>Share of leak</c:v>
                </c:pt>
              </c:strCache>
            </c:strRef>
          </c:tx>
          <c:spPr>
            <a:solidFill>
              <a:srgbClr val="C9B8E0"/>
            </a:solidFill>
            <a:effectLst/>
          </c:spPr>
          <c:invertIfNegative val="0"/>
          <c:dLbls>
            <c:numFmt formatCode="0.0&quot;%&quot;" sourceLinked="0"/>
            <c:txPr>
              <a:bodyPr/>
              <a:lstStyle/>
              <a:p>
                <a:pPr>
                  <a:defRPr b="1" i="0" strike="noStrike" sz="1300" u="none">
                    <a:solidFill>
                      <a:srgbClr val="231B2E"/>
                    </a:solidFill>
                    <a:latin typeface="+mn-lt"/>
                  </a:defRPr>
                </a:pPr>
              </a:p>
            </c:txPr>
            <c:showLegendKey val="0"/>
            <c:showVal val="1"/>
            <c:showCatName val="0"/>
            <c:showSerName val="0"/>
            <c:showPercent val="0"/>
            <c:showBubbleSize val="0"/>
            <c:showLeaderLines val="0"/>
          </c:dLbls>
          <c:dPt>
            <c:idx val="0"/>
            <c:invertIfNegative val="0"/>
            <c:bubble3D val="0"/>
            <c:spPr>
              <a:solidFill>
                <a:srgbClr val="C9B8E0"/>
              </a:solidFill>
              <a:effectLst/>
            </c:spPr>
          </c:dPt>
          <c:dPt>
            <c:idx val="1"/>
            <c:invertIfNegative val="0"/>
            <c:bubble3D val="0"/>
            <c:spPr>
              <a:solidFill>
                <a:srgbClr val="C9B8E0"/>
              </a:solidFill>
              <a:effectLst/>
            </c:spPr>
          </c:dPt>
          <c:dPt>
            <c:idx val="2"/>
            <c:invertIfNegative val="0"/>
            <c:bubble3D val="0"/>
            <c:spPr>
              <a:solidFill>
                <a:srgbClr val="C9B8E0"/>
              </a:solidFill>
              <a:effectLst/>
            </c:spPr>
          </c:dPt>
          <c:dPt>
            <c:idx val="3"/>
            <c:invertIfNegative val="0"/>
            <c:bubble3D val="0"/>
            <c:spPr>
              <a:solidFill>
                <a:srgbClr val="D9502E"/>
              </a:solidFill>
              <a:effectLst/>
            </c:spPr>
          </c:dPt>
          <c:cat>
            <c:multiLvlStrRef>
              <c:f>Sheet1!$A$2:$A$5</c:f>
              <c:multiLvlStrCache>
                <c:ptCount val="4"/>
                <c:lvl>
                  <c:pt idx="0">
                    <c:v>runail</c:v>
                  </c:pt>
                  <c:pt idx="1">
                    <c:v>grattol</c:v>
                  </c:pt>
                  <c:pt idx="2">
                    <c:v>irisk</c:v>
                  </c:pt>
                  <c:pt idx="3">
                    <c:v>strong</c:v>
                  </c:pt>
                </c:lvl>
              </c:multiLvlStrCache>
            </c:multiLvlStrRef>
          </c:cat>
          <c:val>
            <c:numRef>
              <c:f>Sheet1!$B$2:$B$5</c:f>
              <c:numCache>
                <c:formatCode>General</c:formatCode>
                <c:ptCount val="4"/>
                <c:pt idx="0">
                  <c:v>5</c:v>
                </c:pt>
                <c:pt idx="1">
                  <c:v>4.2</c:v>
                </c:pt>
                <c:pt idx="2">
                  <c:v>3.6</c:v>
                </c:pt>
                <c:pt idx="3">
                  <c:v>3.3</c:v>
                </c:pt>
              </c:numCache>
            </c:numRef>
          </c:val>
        </c:ser>
        <c:dLbls>
          <c:numFmt formatCode="0.0&quot;%&quot;" sourceLinked="0"/>
          <c:txPr>
            <a:bodyPr/>
            <a:lstStyle/>
            <a:p>
              <a:pPr>
                <a:defRPr b="1" i="0" strike="noStrike" sz="1300" u="none">
                  <a:solidFill>
                    <a:srgbClr val="231B2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476"/>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2DD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47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31B2E"/>
                </a:solidFill>
                <a:latin typeface="+mn-lt"/>
              </a:defRPr>
            </a:pPr>
            <a:r>
              <a:rPr sz="1300" b="0" i="0" u="none" strike="noStrike">
                <a:solidFill>
                  <a:srgbClr val="231B2E"/>
                </a:solidFill>
                <a:latin typeface="+mn-lt"/>
              </a:rPr>
              <a:t>Net value a month ($K)</a:t>
            </a:r>
          </a:p>
        </c:rich>
      </c:tx>
      <c:layout/>
      <c:overlay val="0"/>
    </c:title>
    <c:autoTitleDeleted val="0"/>
    <c:plotArea>
      <c:layout/>
      <c:barChart>
        <c:barDir val="col"/>
        <c:grouping val="clustered"/>
        <c:varyColors val="0"/>
        <c:ser>
          <c:idx val="0"/>
          <c:order val="0"/>
          <c:tx>
            <c:strRef>
              <c:f>Sheet1!$B$1</c:f>
              <c:strCache>
                <c:ptCount val="1"/>
                <c:pt idx="0">
                  <c:v>Net value</c:v>
                </c:pt>
              </c:strCache>
            </c:strRef>
          </c:tx>
          <c:spPr>
            <a:solidFill>
              <a:srgbClr val="C9B8E0"/>
            </a:solidFill>
            <a:effectLst/>
          </c:spPr>
          <c:invertIfNegative val="0"/>
          <c:dLbls>
            <c:numFmt formatCode="&quot;$&quot;0&quot;K&quot;" sourceLinked="0"/>
            <c:txPr>
              <a:bodyPr/>
              <a:lstStyle/>
              <a:p>
                <a:pPr>
                  <a:defRPr b="1" i="0" strike="noStrike" sz="1300" u="none">
                    <a:solidFill>
                      <a:srgbClr val="231B2E"/>
                    </a:solidFill>
                    <a:latin typeface="+mn-lt"/>
                  </a:defRPr>
                </a:pPr>
              </a:p>
            </c:txPr>
            <c:showLegendKey val="0"/>
            <c:showVal val="1"/>
            <c:showCatName val="0"/>
            <c:showSerName val="0"/>
            <c:showPercent val="0"/>
            <c:showBubbleSize val="0"/>
            <c:showLeaderLines val="0"/>
          </c:dLbls>
          <c:dPt>
            <c:idx val="0"/>
            <c:invertIfNegative val="0"/>
            <c:bubble3D val="0"/>
            <c:spPr>
              <a:solidFill>
                <a:srgbClr val="C9B8E0"/>
              </a:solidFill>
              <a:effectLst/>
            </c:spPr>
          </c:dPt>
          <c:dPt>
            <c:idx val="1"/>
            <c:invertIfNegative val="0"/>
            <c:bubble3D val="0"/>
            <c:spPr>
              <a:solidFill>
                <a:srgbClr val="1F8F7E"/>
              </a:solidFill>
              <a:effectLst/>
            </c:spPr>
          </c:dPt>
          <c:dPt>
            <c:idx val="2"/>
            <c:invertIfNegative val="0"/>
            <c:bubble3D val="0"/>
            <c:spPr>
              <a:solidFill>
                <a:srgbClr val="C9B8E0"/>
              </a:solidFill>
              <a:effectLst/>
            </c:spPr>
          </c:dPt>
          <c:cat>
            <c:multiLvlStrRef>
              <c:f>Sheet1!$A$2:$A$4</c:f>
              <c:multiLvlStrCache>
                <c:ptCount val="3"/>
                <c:lvl>
                  <c:pt idx="0">
                    <c:v>5% win back</c:v>
                  </c:pt>
                  <c:pt idx="1">
                    <c:v>10% win back</c:v>
                  </c:pt>
                  <c:pt idx="2">
                    <c:v>15% win back</c:v>
                  </c:pt>
                </c:lvl>
              </c:multiLvlStrCache>
            </c:multiLvlStrRef>
          </c:cat>
          <c:val>
            <c:numRef>
              <c:f>Sheet1!$B$2:$B$4</c:f>
              <c:numCache>
                <c:formatCode>General</c:formatCode>
                <c:ptCount val="3"/>
                <c:pt idx="0">
                  <c:v>42</c:v>
                </c:pt>
                <c:pt idx="1">
                  <c:v>91</c:v>
                </c:pt>
                <c:pt idx="2">
                  <c:v>140</c:v>
                </c:pt>
              </c:numCache>
            </c:numRef>
          </c:val>
        </c:ser>
        <c:dLbls>
          <c:numFmt formatCode="&quot;$&quot;0&quot;K&quot;" sourceLinked="0"/>
          <c:txPr>
            <a:bodyPr/>
            <a:lstStyle/>
            <a:p>
              <a:pPr>
                <a:defRPr b="1" i="0" strike="noStrike" sz="1300" u="none">
                  <a:solidFill>
                    <a:srgbClr val="231B2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476"/>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2DDE8"/>
              </a:solidFill>
              <a:prstDash val="solid"/>
              <a:round/>
            </a:ln>
          </c:spPr>
        </c:majorGridlines>
        <c:numFmt formatCode="&quot;$&quot;0&quot;K&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47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looks at an online cosmetics shop: 20.7 million shopping events over five months, analysed in Databricks SQL. The question is how much money is left in carts that never get bought, where it sits, and what a simple reminder would be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76.5% of carts are abandoned, and that rate is steady every month. That leaves 3.93 million dollars of products unbought each month, half of it in 23 categories. A reminder that wins back just 10% would add about 91 thousand dollars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monthly files, 2.4 gigabytes, land in a Unity Catalog volume. One read_files query loads them into a Delta table. Each step after that is its own table: raw events, cleaned events, and finally one row per cart, which is what the analysis runs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counting anything, I removed duplicate rows and invalid prices: 5.8% of events. Then I defined a cart precisely: one per user, product and day. Abandoned means the same user did not buy that product within seven days. The last seven days of data are left out, so every cart gets a full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1.6 million users who viewed a product, about a quarter added something to a cart. But fewer than three in ten of those went on to buy. By session, 84% of sessions with a cart end without a purchase. So the biggest drop is between cart and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leak is concentrated. 23 categories, about 5% of the range, hold half of all unbought value, and 83 hold 80%. No single category holds more than 7.3%, so there is no one culprit, but a reminder can start with a short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cart count, runail, grattol and irisk lead. But ranking by value tells a different story: the brand strong has only about 4,000 carts and still holds 3.3% of the leak, because each abandoned cart is worth about 189 dollars. 40% of the leak has no brand recorded, which I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about 9% of new buyers in November and December came back the next month. October looked twice as good, but that is an artefact: the data starts in October, so customers who had bought before look new. I flagged that cohort as unreliable rather than reporting it as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a reminder could be worth. At a 10% win-back rate, about 393 thousand dollars of sales come back each month, which is about 91 thousand dollars after a 25% margin and the cost of the messages. The margin and message cost are my assumptions, and the win-back rate needs a real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recommendation is to test before scaling. Start with the 23 categories that hold half the leak, measure against a random holdout, then scale on the real number. Separately, a second-order offer for new buyers, and better brand and category data at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the SQL is in the repository exactly as it ran, and the case file on my portfolio lets you change the win-back rate and margin and see the value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786384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880360"/>
            <a:ext cx="7863840" cy="82296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rtlCol="0" anchor="ctr"/>
          <a:lstStyle/>
          <a:p>
            <a:pPr indent="0" marL="0">
              <a:buNone/>
            </a:pPr>
            <a:r>
              <a:rPr lang="en-US" sz="1000" dirty="0">
                <a:solidFill>
                  <a:schemeClr val="accent4"/>
                </a:solidFill>
              </a:rPr>
              <a:t>Cart leakage and retention · Parth Dhawan</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parthdhawan921-ops/cart-leakage-analysis" TargetMode="External"/><Relationship Id="rId4" Type="http://schemas.openxmlformats.org/officeDocument/2006/relationships/hyperlink" Target="https://parthdhawan921-ops.github.io/Parth_Personal/#cart" TargetMode="External"/><Relationship Id="rId6" Type="http://schemas.openxmlformats.org/officeDocument/2006/relationships/hyperlink" Target="mailto:parthdhawan921@gmail.com" TargetMode="External"/><Relationship Id="rId1" Type="http://schemas.openxmlformats.org/officeDocument/2006/relationships/image" Target="../media/image-11-1.png"/><Relationship Id="rId3" Type="http://schemas.openxmlformats.org/officeDocument/2006/relationships/image" Target="../media/image-11-2.png"/><Relationship Id="rId5" Type="http://schemas.openxmlformats.org/officeDocument/2006/relationships/image" Target="../media/image-11-3.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7863840" cy="1463040"/>
          </a:xfrm>
          <a:prstGeom prst="rect">
            <a:avLst/>
          </a:prstGeom>
          <a:noFill/>
          <a:ln/>
        </p:spPr>
        <p:txBody>
          <a:bodyPr wrap="square" lIns="0" tIns="0" rIns="0" bIns="0" rtlCol="0" anchor="b"/>
          <a:lstStyle/>
          <a:p>
            <a:pPr algn="l" indent="0" marL="0">
              <a:buNone/>
            </a:pPr>
            <a:r>
              <a:rPr lang="en-US" sz="3800" b="1" dirty="0">
                <a:solidFill>
                  <a:schemeClr val="bg1"/>
                </a:solidFill>
              </a:rPr>
              <a:t>$3.93M a month left in shopping carts</a:t>
            </a:r>
            <a:endParaRPr lang="en-US" sz="3800" dirty="0"/>
          </a:p>
        </p:txBody>
      </p:sp>
      <p:sp>
        <p:nvSpPr>
          <p:cNvPr id="3" name="Text 0"/>
          <p:cNvSpPr/>
          <p:nvPr>
            <p:ph idx="101" type="body" hasCustomPrompt="1"/>
          </p:nvPr>
        </p:nvSpPr>
        <p:spPr>
          <a:xfrm>
            <a:off x="548640" y="2880360"/>
            <a:ext cx="7863840" cy="822960"/>
          </a:xfrm>
          <a:prstGeom prst="rect">
            <a:avLst/>
          </a:prstGeom>
          <a:noFill/>
          <a:ln/>
        </p:spPr>
        <p:txBody>
          <a:bodyPr wrap="square" lIns="0" tIns="0" rIns="0" bIns="0" rtlCol="0" anchor="t"/>
          <a:lstStyle/>
          <a:p>
            <a:pPr algn="l" indent="0" marL="0">
              <a:buNone/>
            </a:pPr>
            <a:r>
              <a:rPr lang="en-US" sz="1800" dirty="0">
                <a:solidFill>
                  <a:schemeClr val="accent5"/>
                </a:solidFill>
              </a:rPr>
              <a:t>Cart leakage and retention · Databricks SQL · Parth Dhawan · October 2026</a:t>
            </a:r>
            <a:endParaRPr lang="en-US" sz="1800" dirty="0"/>
          </a:p>
        </p:txBody>
      </p:sp>
      <p:sp>
        <p:nvSpPr>
          <p:cNvPr id="4" name="Cart disc"/>
          <p:cNvSpPr/>
          <p:nvPr/>
        </p:nvSpPr>
        <p:spPr>
          <a:xfrm>
            <a:off x="548640" y="502920"/>
            <a:ext cx="566928" cy="566928"/>
          </a:xfrm>
          <a:prstGeom prst="ellipse">
            <a:avLst/>
          </a:prstGeom>
          <a:solidFill>
            <a:schemeClr val="accent1"/>
          </a:solidFill>
          <a:ln w="12700">
            <a:solidFill>
              <a:schemeClr val="accent1"/>
            </a:solidFill>
            <a:prstDash val="solid"/>
          </a:ln>
        </p:spPr>
      </p:sp>
      <p:pic>
        <p:nvPicPr>
          <p:cNvPr id="5" name="Cart icon" descr="Cart">    </p:cNvPr>
          <p:cNvPicPr>
            <a:picLocks noChangeAspect="1"/>
          </p:cNvPicPr>
          <p:nvPr/>
        </p:nvPicPr>
        <p:blipFill>
          <a:blip r:embed="rId1"/>
          <a:stretch>
            <a:fillRect/>
          </a:stretch>
        </p:blipFill>
        <p:spPr>
          <a:xfrm>
            <a:off x="684703" y="638983"/>
            <a:ext cx="294803" cy="294803"/>
          </a:xfrm>
          <a:prstGeom prst="rect">
            <a:avLst/>
          </a:prstGeom>
        </p:spPr>
      </p:pic>
      <p:sp>
        <p:nvSpPr>
          <p:cNvPr id="6" name="Scope line"/>
          <p:cNvSpPr txBox="1"/>
          <p:nvPr/>
        </p:nvSpPr>
        <p:spPr>
          <a:xfrm>
            <a:off x="548640" y="4343400"/>
            <a:ext cx="7863840" cy="320040"/>
          </a:xfrm>
          <a:prstGeom prst="rect">
            <a:avLst/>
          </a:prstGeom>
          <a:noFill/>
          <a:ln/>
        </p:spPr>
        <p:txBody>
          <a:bodyPr wrap="square" lIns="0" tIns="0" rIns="0" bIns="0" rtlCol="0" anchor="ctr"/>
          <a:lstStyle/>
          <a:p>
            <a:pPr indent="0" marL="0">
              <a:buNone/>
            </a:pPr>
            <a:r>
              <a:rPr lang="en-US" sz="1300" dirty="0">
                <a:solidFill>
                  <a:schemeClr val="accent5"/>
                </a:solidFill>
              </a:rPr>
              <a:t>2.4 GB  ·  20.7M shopping events  ·  4.52M carts  ·  465 categories  ·  Oct 2019 to Feb 2020</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Three out of four carts are never bought</a:t>
            </a:r>
            <a:endParaRPr lang="en-US" sz="2600" dirty="0"/>
          </a:p>
        </p:txBody>
      </p:sp>
      <p:sp>
        <p:nvSpPr>
          <p:cNvPr id="3" name="Summary card 1"/>
          <p:cNvSpPr/>
          <p:nvPr/>
        </p:nvSpPr>
        <p:spPr>
          <a:xfrm>
            <a:off x="457200" y="1234440"/>
            <a:ext cx="2615184" cy="3246120"/>
          </a:xfrm>
          <a:prstGeom prst="roundRect">
            <a:avLst>
              <a:gd name="adj" fmla="val 2797"/>
            </a:avLst>
          </a:prstGeom>
          <a:solidFill>
            <a:schemeClr val="bg2"/>
          </a:solidFill>
          <a:ln w="12700">
            <a:solidFill>
              <a:schemeClr val="bg2"/>
            </a:solidFill>
            <a:prstDash val="solid"/>
          </a:ln>
        </p:spPr>
      </p:sp>
      <p:sp>
        <p:nvSpPr>
          <p:cNvPr id="4" name="Summary 1 disc"/>
          <p:cNvSpPr/>
          <p:nvPr/>
        </p:nvSpPr>
        <p:spPr>
          <a:xfrm>
            <a:off x="685800" y="1463040"/>
            <a:ext cx="502920" cy="502920"/>
          </a:xfrm>
          <a:prstGeom prst="ellipse">
            <a:avLst/>
          </a:prstGeom>
          <a:solidFill>
            <a:schemeClr val="accent1"/>
          </a:solidFill>
          <a:ln w="12700">
            <a:solidFill>
              <a:schemeClr val="accent1"/>
            </a:solidFill>
            <a:prstDash val="solid"/>
          </a:ln>
        </p:spPr>
      </p:sp>
      <p:pic>
        <p:nvPicPr>
          <p:cNvPr id="5" name="Summary 1 icon" descr="Summary 1">    </p:cNvPr>
          <p:cNvPicPr>
            <a:picLocks noChangeAspect="1"/>
          </p:cNvPicPr>
          <p:nvPr/>
        </p:nvPicPr>
        <p:blipFill>
          <a:blip r:embed="rId1"/>
          <a:stretch>
            <a:fillRect/>
          </a:stretch>
        </p:blipFill>
        <p:spPr>
          <a:xfrm>
            <a:off x="806501" y="1583741"/>
            <a:ext cx="261518" cy="261518"/>
          </a:xfrm>
          <a:prstGeom prst="rect">
            <a:avLst/>
          </a:prstGeom>
        </p:spPr>
      </p:pic>
      <p:sp>
        <p:nvSpPr>
          <p:cNvPr id="6" name="Summary number 1"/>
          <p:cNvSpPr txBox="1"/>
          <p:nvPr/>
        </p:nvSpPr>
        <p:spPr>
          <a:xfrm>
            <a:off x="685800" y="2103120"/>
            <a:ext cx="2194560" cy="685800"/>
          </a:xfrm>
          <a:prstGeom prst="rect">
            <a:avLst/>
          </a:prstGeom>
          <a:noFill/>
          <a:ln/>
        </p:spPr>
        <p:txBody>
          <a:bodyPr wrap="square" lIns="0" tIns="0" rIns="0" bIns="0" rtlCol="0" anchor="ctr"/>
          <a:lstStyle/>
          <a:p>
            <a:pPr indent="0" marL="0">
              <a:buNone/>
            </a:pPr>
            <a:r>
              <a:rPr lang="en-US" sz="3800" b="1" dirty="0">
                <a:solidFill>
                  <a:schemeClr val="accent1"/>
                </a:solidFill>
              </a:rPr>
              <a:t>76.5%</a:t>
            </a:r>
            <a:endParaRPr lang="en-US" sz="3800" dirty="0"/>
          </a:p>
        </p:txBody>
      </p:sp>
      <p:sp>
        <p:nvSpPr>
          <p:cNvPr id="7" name="Summary label 1"/>
          <p:cNvSpPr txBox="1"/>
          <p:nvPr/>
        </p:nvSpPr>
        <p:spPr>
          <a:xfrm>
            <a:off x="685800" y="2788920"/>
            <a:ext cx="2194560" cy="411480"/>
          </a:xfrm>
          <a:prstGeom prst="rect">
            <a:avLst/>
          </a:prstGeom>
          <a:noFill/>
          <a:ln/>
        </p:spPr>
        <p:txBody>
          <a:bodyPr wrap="square" lIns="0" tIns="0" rIns="0" bIns="0" rtlCol="0" anchor="t"/>
          <a:lstStyle/>
          <a:p>
            <a:pPr indent="0" marL="0">
              <a:buNone/>
            </a:pPr>
            <a:r>
              <a:rPr lang="en-US" sz="1500" b="1" dirty="0">
                <a:solidFill>
                  <a:schemeClr val="tx1"/>
                </a:solidFill>
              </a:rPr>
              <a:t>of carts abandoned</a:t>
            </a:r>
            <a:endParaRPr lang="en-US" sz="1500" dirty="0"/>
          </a:p>
        </p:txBody>
      </p:sp>
      <p:sp>
        <p:nvSpPr>
          <p:cNvPr id="8" name="Summary text 1"/>
          <p:cNvSpPr txBox="1"/>
          <p:nvPr/>
        </p:nvSpPr>
        <p:spPr>
          <a:xfrm>
            <a:off x="685800" y="3246120"/>
            <a:ext cx="2194560" cy="1097280"/>
          </a:xfrm>
          <a:prstGeom prst="rect">
            <a:avLst/>
          </a:prstGeom>
          <a:noFill/>
          <a:ln/>
        </p:spPr>
        <p:txBody>
          <a:bodyPr wrap="square" lIns="0" tIns="0" rIns="0" bIns="0" rtlCol="0" anchor="t"/>
          <a:lstStyle/>
          <a:p>
            <a:pPr indent="0" marL="0">
              <a:buNone/>
            </a:pPr>
            <a:r>
              <a:rPr lang="en-US" sz="1300" dirty="0">
                <a:solidFill>
                  <a:schemeClr val="accent4"/>
                </a:solidFill>
              </a:rPr>
              <a:t>3.46M of 4.52M carts were not bought within 7 days, and the rate holds at 75% to 78% every month.</a:t>
            </a:r>
            <a:endParaRPr lang="en-US" sz="1300" dirty="0"/>
          </a:p>
        </p:txBody>
      </p:sp>
      <p:sp>
        <p:nvSpPr>
          <p:cNvPr id="9" name="Summary card 2"/>
          <p:cNvSpPr/>
          <p:nvPr/>
        </p:nvSpPr>
        <p:spPr>
          <a:xfrm>
            <a:off x="3264408" y="1234440"/>
            <a:ext cx="2615184" cy="3246120"/>
          </a:xfrm>
          <a:prstGeom prst="roundRect">
            <a:avLst>
              <a:gd name="adj" fmla="val 2797"/>
            </a:avLst>
          </a:prstGeom>
          <a:solidFill>
            <a:schemeClr val="bg2"/>
          </a:solidFill>
          <a:ln w="12700">
            <a:solidFill>
              <a:schemeClr val="bg2"/>
            </a:solidFill>
            <a:prstDash val="solid"/>
          </a:ln>
        </p:spPr>
      </p:sp>
      <p:sp>
        <p:nvSpPr>
          <p:cNvPr id="10" name="Summary 2 disc"/>
          <p:cNvSpPr/>
          <p:nvPr/>
        </p:nvSpPr>
        <p:spPr>
          <a:xfrm>
            <a:off x="3493008" y="1463040"/>
            <a:ext cx="502920" cy="502920"/>
          </a:xfrm>
          <a:prstGeom prst="ellipse">
            <a:avLst/>
          </a:prstGeom>
          <a:solidFill>
            <a:schemeClr val="accent1"/>
          </a:solidFill>
          <a:ln w="12700">
            <a:solidFill>
              <a:schemeClr val="accent1"/>
            </a:solidFill>
            <a:prstDash val="solid"/>
          </a:ln>
        </p:spPr>
      </p:sp>
      <p:pic>
        <p:nvPicPr>
          <p:cNvPr id="11" name="Summary 2 icon" descr="Summary 2">    </p:cNvPr>
          <p:cNvPicPr>
            <a:picLocks noChangeAspect="1"/>
          </p:cNvPicPr>
          <p:nvPr/>
        </p:nvPicPr>
        <p:blipFill>
          <a:blip r:embed="rId2"/>
          <a:stretch>
            <a:fillRect/>
          </a:stretch>
        </p:blipFill>
        <p:spPr>
          <a:xfrm>
            <a:off x="3613709" y="1583741"/>
            <a:ext cx="261518" cy="261518"/>
          </a:xfrm>
          <a:prstGeom prst="rect">
            <a:avLst/>
          </a:prstGeom>
        </p:spPr>
      </p:pic>
      <p:sp>
        <p:nvSpPr>
          <p:cNvPr id="12" name="Summary number 2"/>
          <p:cNvSpPr txBox="1"/>
          <p:nvPr/>
        </p:nvSpPr>
        <p:spPr>
          <a:xfrm>
            <a:off x="3493008" y="2103120"/>
            <a:ext cx="2194560" cy="685800"/>
          </a:xfrm>
          <a:prstGeom prst="rect">
            <a:avLst/>
          </a:prstGeom>
          <a:noFill/>
          <a:ln/>
        </p:spPr>
        <p:txBody>
          <a:bodyPr wrap="square" lIns="0" tIns="0" rIns="0" bIns="0" rtlCol="0" anchor="ctr"/>
          <a:lstStyle/>
          <a:p>
            <a:pPr indent="0" marL="0">
              <a:buNone/>
            </a:pPr>
            <a:r>
              <a:rPr lang="en-US" sz="3800" b="1" dirty="0">
                <a:solidFill>
                  <a:schemeClr val="accent1"/>
                </a:solidFill>
              </a:rPr>
              <a:t>$3.93M</a:t>
            </a:r>
            <a:endParaRPr lang="en-US" sz="3800" dirty="0"/>
          </a:p>
        </p:txBody>
      </p:sp>
      <p:sp>
        <p:nvSpPr>
          <p:cNvPr id="13" name="Summary label 2"/>
          <p:cNvSpPr txBox="1"/>
          <p:nvPr/>
        </p:nvSpPr>
        <p:spPr>
          <a:xfrm>
            <a:off x="3493008" y="2788920"/>
            <a:ext cx="2194560" cy="411480"/>
          </a:xfrm>
          <a:prstGeom prst="rect">
            <a:avLst/>
          </a:prstGeom>
          <a:noFill/>
          <a:ln/>
        </p:spPr>
        <p:txBody>
          <a:bodyPr wrap="square" lIns="0" tIns="0" rIns="0" bIns="0" rtlCol="0" anchor="t"/>
          <a:lstStyle/>
          <a:p>
            <a:pPr indent="0" marL="0">
              <a:buNone/>
            </a:pPr>
            <a:r>
              <a:rPr lang="en-US" sz="1500" b="1" dirty="0">
                <a:solidFill>
                  <a:schemeClr val="tx1"/>
                </a:solidFill>
              </a:rPr>
              <a:t>left unbought a month</a:t>
            </a:r>
            <a:endParaRPr lang="en-US" sz="1500" dirty="0"/>
          </a:p>
        </p:txBody>
      </p:sp>
      <p:sp>
        <p:nvSpPr>
          <p:cNvPr id="14" name="Summary text 2"/>
          <p:cNvSpPr txBox="1"/>
          <p:nvPr/>
        </p:nvSpPr>
        <p:spPr>
          <a:xfrm>
            <a:off x="3493008" y="3246120"/>
            <a:ext cx="2194560" cy="1097280"/>
          </a:xfrm>
          <a:prstGeom prst="rect">
            <a:avLst/>
          </a:prstGeom>
          <a:noFill/>
          <a:ln/>
        </p:spPr>
        <p:txBody>
          <a:bodyPr wrap="square" lIns="0" tIns="0" rIns="0" bIns="0" rtlCol="0" anchor="t"/>
          <a:lstStyle/>
          <a:p>
            <a:pPr indent="0" marL="0">
              <a:buNone/>
            </a:pPr>
            <a:r>
              <a:rPr lang="en-US" sz="1300" dirty="0">
                <a:solidFill>
                  <a:schemeClr val="accent4"/>
                </a:solidFill>
              </a:rPr>
              <a:t>Half of it sits in just 23 of 465 categories, so the fix can start small.</a:t>
            </a:r>
            <a:endParaRPr lang="en-US" sz="1300" dirty="0"/>
          </a:p>
        </p:txBody>
      </p:sp>
      <p:sp>
        <p:nvSpPr>
          <p:cNvPr id="15" name="Summary card 3"/>
          <p:cNvSpPr/>
          <p:nvPr/>
        </p:nvSpPr>
        <p:spPr>
          <a:xfrm>
            <a:off x="6071616" y="1234440"/>
            <a:ext cx="2615184" cy="3246120"/>
          </a:xfrm>
          <a:prstGeom prst="roundRect">
            <a:avLst>
              <a:gd name="adj" fmla="val 2797"/>
            </a:avLst>
          </a:prstGeom>
          <a:solidFill>
            <a:schemeClr val="bg2"/>
          </a:solidFill>
          <a:ln w="12700">
            <a:solidFill>
              <a:schemeClr val="bg2"/>
            </a:solidFill>
            <a:prstDash val="solid"/>
          </a:ln>
        </p:spPr>
      </p:sp>
      <p:sp>
        <p:nvSpPr>
          <p:cNvPr id="16" name="Summary 3 disc"/>
          <p:cNvSpPr/>
          <p:nvPr/>
        </p:nvSpPr>
        <p:spPr>
          <a:xfrm>
            <a:off x="6300216" y="1463040"/>
            <a:ext cx="502920" cy="502920"/>
          </a:xfrm>
          <a:prstGeom prst="ellipse">
            <a:avLst/>
          </a:prstGeom>
          <a:solidFill>
            <a:schemeClr val="accent2"/>
          </a:solidFill>
          <a:ln w="12700">
            <a:solidFill>
              <a:schemeClr val="accent2"/>
            </a:solidFill>
            <a:prstDash val="solid"/>
          </a:ln>
        </p:spPr>
      </p:sp>
      <p:pic>
        <p:nvPicPr>
          <p:cNvPr id="17" name="Summary 3 icon" descr="Summary 3">    </p:cNvPr>
          <p:cNvPicPr>
            <a:picLocks noChangeAspect="1"/>
          </p:cNvPicPr>
          <p:nvPr/>
        </p:nvPicPr>
        <p:blipFill>
          <a:blip r:embed="rId3"/>
          <a:stretch>
            <a:fillRect/>
          </a:stretch>
        </p:blipFill>
        <p:spPr>
          <a:xfrm>
            <a:off x="6420917" y="1583741"/>
            <a:ext cx="261518" cy="261518"/>
          </a:xfrm>
          <a:prstGeom prst="rect">
            <a:avLst/>
          </a:prstGeom>
        </p:spPr>
      </p:pic>
      <p:sp>
        <p:nvSpPr>
          <p:cNvPr id="18" name="Summary number 3"/>
          <p:cNvSpPr txBox="1"/>
          <p:nvPr/>
        </p:nvSpPr>
        <p:spPr>
          <a:xfrm>
            <a:off x="6300216" y="2103120"/>
            <a:ext cx="2194560" cy="685800"/>
          </a:xfrm>
          <a:prstGeom prst="rect">
            <a:avLst/>
          </a:prstGeom>
          <a:noFill/>
          <a:ln/>
        </p:spPr>
        <p:txBody>
          <a:bodyPr wrap="square" lIns="0" tIns="0" rIns="0" bIns="0" rtlCol="0" anchor="ctr"/>
          <a:lstStyle/>
          <a:p>
            <a:pPr indent="0" marL="0">
              <a:buNone/>
            </a:pPr>
            <a:r>
              <a:rPr lang="en-US" sz="3800" b="1" dirty="0">
                <a:solidFill>
                  <a:schemeClr val="accent2"/>
                </a:solidFill>
              </a:rPr>
              <a:t>~$91K</a:t>
            </a:r>
            <a:endParaRPr lang="en-US" sz="3800" dirty="0"/>
          </a:p>
        </p:txBody>
      </p:sp>
      <p:sp>
        <p:nvSpPr>
          <p:cNvPr id="19" name="Summary label 3"/>
          <p:cNvSpPr txBox="1"/>
          <p:nvPr/>
        </p:nvSpPr>
        <p:spPr>
          <a:xfrm>
            <a:off x="6300216" y="2788920"/>
            <a:ext cx="2194560" cy="411480"/>
          </a:xfrm>
          <a:prstGeom prst="rect">
            <a:avLst/>
          </a:prstGeom>
          <a:noFill/>
          <a:ln/>
        </p:spPr>
        <p:txBody>
          <a:bodyPr wrap="square" lIns="0" tIns="0" rIns="0" bIns="0" rtlCol="0" anchor="t"/>
          <a:lstStyle/>
          <a:p>
            <a:pPr indent="0" marL="0">
              <a:buNone/>
            </a:pPr>
            <a:r>
              <a:rPr lang="en-US" sz="1500" b="1" dirty="0">
                <a:solidFill>
                  <a:schemeClr val="tx1"/>
                </a:solidFill>
              </a:rPr>
              <a:t>a month from a reminder</a:t>
            </a:r>
            <a:endParaRPr lang="en-US" sz="1500" dirty="0"/>
          </a:p>
        </p:txBody>
      </p:sp>
      <p:sp>
        <p:nvSpPr>
          <p:cNvPr id="20" name="Summary text 3"/>
          <p:cNvSpPr txBox="1"/>
          <p:nvPr/>
        </p:nvSpPr>
        <p:spPr>
          <a:xfrm>
            <a:off x="6300216" y="3246120"/>
            <a:ext cx="2194560" cy="1097280"/>
          </a:xfrm>
          <a:prstGeom prst="rect">
            <a:avLst/>
          </a:prstGeom>
          <a:noFill/>
          <a:ln/>
        </p:spPr>
        <p:txBody>
          <a:bodyPr wrap="square" lIns="0" tIns="0" rIns="0" bIns="0" rtlCol="0" anchor="t"/>
          <a:lstStyle/>
          <a:p>
            <a:pPr indent="0" marL="0">
              <a:buNone/>
            </a:pPr>
            <a:r>
              <a:rPr lang="en-US" sz="1300" dirty="0">
                <a:solidFill>
                  <a:schemeClr val="accent4"/>
                </a:solidFill>
              </a:rPr>
              <a:t>If a reminder wins back 10% of carts, after a 25% margin and $0.01 per message.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2.4 GB of raw clicks to one row per cart, in Databricks</a:t>
            </a:r>
            <a:endParaRPr lang="en-US" sz="2600" dirty="0"/>
          </a:p>
        </p:txBody>
      </p:sp>
      <p:sp>
        <p:nvSpPr>
          <p:cNvPr id="3" name="Pipeline frame"/>
          <p:cNvSpPr/>
          <p:nvPr/>
        </p:nvSpPr>
        <p:spPr>
          <a:xfrm>
            <a:off x="457200" y="1097280"/>
            <a:ext cx="8229600" cy="3235262"/>
          </a:xfrm>
          <a:prstGeom prst="rect">
            <a:avLst/>
          </a:prstGeom>
          <a:solidFill>
            <a:schemeClr val="bg1"/>
          </a:solidFill>
          <a:ln w="9525">
            <a:solidFill>
              <a:srgbClr val="DAD3E2"/>
            </a:solidFill>
            <a:prstDash val="solid"/>
          </a:ln>
        </p:spPr>
      </p:sp>
      <p:pic>
        <p:nvPicPr>
          <p:cNvPr id="4" name="Pipeline diagram" descr="Databricks pipeline: 5 monthly CSVs, 2.4 GB, into a Unity Catalog volume, then Delta tables events_raw 20.69M rows, events 19.50M and cart_outcomes 4.52M">    </p:cNvPr>
          <p:cNvPicPr>
            <a:picLocks noChangeAspect="1"/>
          </p:cNvPicPr>
          <p:nvPr/>
        </p:nvPicPr>
        <p:blipFill>
          <a:blip r:embed="rId1"/>
          <a:stretch>
            <a:fillRect/>
          </a:stretch>
        </p:blipFill>
        <p:spPr>
          <a:xfrm>
            <a:off x="457200" y="1097280"/>
            <a:ext cx="8229600" cy="3235262"/>
          </a:xfrm>
          <a:prstGeom prst="rect">
            <a:avLst/>
          </a:prstGeom>
        </p:spPr>
      </p:pic>
      <p:sp>
        <p:nvSpPr>
          <p:cNvPr id="5" name="Pipeline note"/>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250" i="1" dirty="0">
                <a:solidFill>
                  <a:schemeClr val="accent4"/>
                </a:solidFill>
              </a:rPr>
              <a:t>Each step is its own Delta table, so every number can be traced back to the raw clicks.</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Cleaned before counting</a:t>
            </a:r>
            <a:endParaRPr lang="en-US" sz="2600" dirty="0"/>
          </a:p>
        </p:txBody>
      </p:sp>
      <p:sp>
        <p:nvSpPr>
          <p:cNvPr id="3" name="SQL frame"/>
          <p:cNvSpPr/>
          <p:nvPr/>
        </p:nvSpPr>
        <p:spPr>
          <a:xfrm>
            <a:off x="1371600" y="1024128"/>
            <a:ext cx="6400800" cy="2160270"/>
          </a:xfrm>
          <a:prstGeom prst="rect">
            <a:avLst/>
          </a:prstGeom>
          <a:solidFill>
            <a:schemeClr val="bg1"/>
          </a:solidFill>
          <a:ln w="9525">
            <a:solidFill>
              <a:srgbClr val="DAD3E2"/>
            </a:solidFill>
            <a:prstDash val="solid"/>
          </a:ln>
        </p:spPr>
      </p:sp>
      <p:pic>
        <p:nvPicPr>
          <p:cNvPr id="4" name="SQL screenshot" descr="Load and clean queries as run in Databricks SQL: read_files from the volume, then SELECT DISTINCT with valid prices only">    </p:cNvPr>
          <p:cNvPicPr>
            <a:picLocks noChangeAspect="1"/>
          </p:cNvPicPr>
          <p:nvPr/>
        </p:nvPicPr>
        <p:blipFill>
          <a:blip r:embed="rId1"/>
          <a:stretch>
            <a:fillRect/>
          </a:stretch>
        </p:blipFill>
        <p:spPr>
          <a:xfrm>
            <a:off x="1371600" y="1024128"/>
            <a:ext cx="6400800" cy="2160270"/>
          </a:xfrm>
          <a:prstGeom prst="rect">
            <a:avLst/>
          </a:prstGeom>
        </p:spPr>
      </p:pic>
      <p:sp>
        <p:nvSpPr>
          <p:cNvPr id="5" name="Stat card 1"/>
          <p:cNvSpPr/>
          <p:nvPr/>
        </p:nvSpPr>
        <p:spPr>
          <a:xfrm>
            <a:off x="457200" y="3383280"/>
            <a:ext cx="2615184" cy="1188720"/>
          </a:xfrm>
          <a:prstGeom prst="roundRect">
            <a:avLst>
              <a:gd name="adj" fmla="val 6154"/>
            </a:avLst>
          </a:prstGeom>
          <a:solidFill>
            <a:schemeClr val="bg2"/>
          </a:solidFill>
          <a:ln w="12700">
            <a:solidFill>
              <a:schemeClr val="bg2"/>
            </a:solidFill>
            <a:prstDash val="solid"/>
          </a:ln>
        </p:spPr>
      </p:sp>
      <p:sp>
        <p:nvSpPr>
          <p:cNvPr id="6" name="Stat number 1"/>
          <p:cNvSpPr txBox="1"/>
          <p:nvPr/>
        </p:nvSpPr>
        <p:spPr>
          <a:xfrm>
            <a:off x="658368" y="3493008"/>
            <a:ext cx="2249424" cy="502920"/>
          </a:xfrm>
          <a:prstGeom prst="rect">
            <a:avLst/>
          </a:prstGeom>
          <a:noFill/>
          <a:ln/>
        </p:spPr>
        <p:txBody>
          <a:bodyPr wrap="square" lIns="0" tIns="0" rIns="0" bIns="0" rtlCol="0" anchor="ctr"/>
          <a:lstStyle/>
          <a:p>
            <a:pPr indent="0" marL="0">
              <a:buNone/>
            </a:pPr>
            <a:r>
              <a:rPr lang="en-US" sz="2200" b="1" dirty="0">
                <a:solidFill>
                  <a:schemeClr val="tx1"/>
                </a:solidFill>
              </a:rPr>
              <a:t>19.50M events</a:t>
            </a:r>
            <a:endParaRPr lang="en-US" sz="2200" dirty="0"/>
          </a:p>
        </p:txBody>
      </p:sp>
      <p:sp>
        <p:nvSpPr>
          <p:cNvPr id="7" name="Stat text 1"/>
          <p:cNvSpPr txBox="1"/>
          <p:nvPr/>
        </p:nvSpPr>
        <p:spPr>
          <a:xfrm>
            <a:off x="658368" y="4005072"/>
            <a:ext cx="2249424" cy="502920"/>
          </a:xfrm>
          <a:prstGeom prst="rect">
            <a:avLst/>
          </a:prstGeom>
          <a:noFill/>
          <a:ln/>
        </p:spPr>
        <p:txBody>
          <a:bodyPr wrap="square" lIns="0" tIns="0" rIns="0" bIns="0" rtlCol="0" anchor="t"/>
          <a:lstStyle/>
          <a:p>
            <a:pPr indent="0" marL="0">
              <a:buNone/>
            </a:pPr>
            <a:r>
              <a:rPr lang="en-US" sz="1250" dirty="0">
                <a:solidFill>
                  <a:schemeClr val="accent4"/>
                </a:solidFill>
              </a:rPr>
              <a:t>kept of 20.69M: duplicates and invalid prices removed (5.8%)</a:t>
            </a:r>
            <a:endParaRPr lang="en-US" sz="1250" dirty="0"/>
          </a:p>
        </p:txBody>
      </p:sp>
      <p:sp>
        <p:nvSpPr>
          <p:cNvPr id="8" name="Stat card 2"/>
          <p:cNvSpPr/>
          <p:nvPr/>
        </p:nvSpPr>
        <p:spPr>
          <a:xfrm>
            <a:off x="3264408" y="3383280"/>
            <a:ext cx="2615184" cy="1188720"/>
          </a:xfrm>
          <a:prstGeom prst="roundRect">
            <a:avLst>
              <a:gd name="adj" fmla="val 6154"/>
            </a:avLst>
          </a:prstGeom>
          <a:solidFill>
            <a:schemeClr val="bg2"/>
          </a:solidFill>
          <a:ln w="12700">
            <a:solidFill>
              <a:schemeClr val="bg2"/>
            </a:solidFill>
            <a:prstDash val="solid"/>
          </a:ln>
        </p:spPr>
      </p:sp>
      <p:sp>
        <p:nvSpPr>
          <p:cNvPr id="9" name="Stat number 2"/>
          <p:cNvSpPr txBox="1"/>
          <p:nvPr/>
        </p:nvSpPr>
        <p:spPr>
          <a:xfrm>
            <a:off x="3465576" y="3493008"/>
            <a:ext cx="2249424" cy="502920"/>
          </a:xfrm>
          <a:prstGeom prst="rect">
            <a:avLst/>
          </a:prstGeom>
          <a:noFill/>
          <a:ln/>
        </p:spPr>
        <p:txBody>
          <a:bodyPr wrap="square" lIns="0" tIns="0" rIns="0" bIns="0" rtlCol="0" anchor="ctr"/>
          <a:lstStyle/>
          <a:p>
            <a:pPr indent="0" marL="0">
              <a:buNone/>
            </a:pPr>
            <a:r>
              <a:rPr lang="en-US" sz="2200" b="1" dirty="0">
                <a:solidFill>
                  <a:schemeClr val="tx1"/>
                </a:solidFill>
              </a:rPr>
              <a:t>4.52M carts</a:t>
            </a:r>
            <a:endParaRPr lang="en-US" sz="2200" dirty="0"/>
          </a:p>
        </p:txBody>
      </p:sp>
      <p:sp>
        <p:nvSpPr>
          <p:cNvPr id="10" name="Stat text 2"/>
          <p:cNvSpPr txBox="1"/>
          <p:nvPr/>
        </p:nvSpPr>
        <p:spPr>
          <a:xfrm>
            <a:off x="3465576" y="4005072"/>
            <a:ext cx="2249424" cy="502920"/>
          </a:xfrm>
          <a:prstGeom prst="rect">
            <a:avLst/>
          </a:prstGeom>
          <a:noFill/>
          <a:ln/>
        </p:spPr>
        <p:txBody>
          <a:bodyPr wrap="square" lIns="0" tIns="0" rIns="0" bIns="0" rtlCol="0" anchor="t"/>
          <a:lstStyle/>
          <a:p>
            <a:pPr indent="0" marL="0">
              <a:buNone/>
            </a:pPr>
            <a:r>
              <a:rPr lang="en-US" sz="1250" dirty="0">
                <a:solidFill>
                  <a:schemeClr val="accent4"/>
                </a:solidFill>
              </a:rPr>
              <a:t>one per user, product and day, so repeat clicks count once</a:t>
            </a:r>
            <a:endParaRPr lang="en-US" sz="1250" dirty="0"/>
          </a:p>
        </p:txBody>
      </p:sp>
      <p:sp>
        <p:nvSpPr>
          <p:cNvPr id="11" name="Stat card 3"/>
          <p:cNvSpPr/>
          <p:nvPr/>
        </p:nvSpPr>
        <p:spPr>
          <a:xfrm>
            <a:off x="6071616" y="3383280"/>
            <a:ext cx="2615184" cy="1188720"/>
          </a:xfrm>
          <a:prstGeom prst="roundRect">
            <a:avLst>
              <a:gd name="adj" fmla="val 6154"/>
            </a:avLst>
          </a:prstGeom>
          <a:solidFill>
            <a:schemeClr val="bg2"/>
          </a:solidFill>
          <a:ln w="12700">
            <a:solidFill>
              <a:schemeClr val="bg2"/>
            </a:solidFill>
            <a:prstDash val="solid"/>
          </a:ln>
        </p:spPr>
      </p:sp>
      <p:sp>
        <p:nvSpPr>
          <p:cNvPr id="12" name="Stat number 3"/>
          <p:cNvSpPr txBox="1"/>
          <p:nvPr/>
        </p:nvSpPr>
        <p:spPr>
          <a:xfrm>
            <a:off x="6272784" y="3493008"/>
            <a:ext cx="2249424" cy="502920"/>
          </a:xfrm>
          <a:prstGeom prst="rect">
            <a:avLst/>
          </a:prstGeom>
          <a:noFill/>
          <a:ln/>
        </p:spPr>
        <p:txBody>
          <a:bodyPr wrap="square" lIns="0" tIns="0" rIns="0" bIns="0" rtlCol="0" anchor="ctr"/>
          <a:lstStyle/>
          <a:p>
            <a:pPr indent="0" marL="0">
              <a:buNone/>
            </a:pPr>
            <a:r>
              <a:rPr lang="en-US" sz="2200" b="1" dirty="0">
                <a:solidFill>
                  <a:schemeClr val="tx1"/>
                </a:solidFill>
              </a:rPr>
              <a:t>7-day window</a:t>
            </a:r>
            <a:endParaRPr lang="en-US" sz="2200" dirty="0"/>
          </a:p>
        </p:txBody>
      </p:sp>
      <p:sp>
        <p:nvSpPr>
          <p:cNvPr id="13" name="Stat text 3"/>
          <p:cNvSpPr txBox="1"/>
          <p:nvPr/>
        </p:nvSpPr>
        <p:spPr>
          <a:xfrm>
            <a:off x="6272784" y="4005072"/>
            <a:ext cx="2249424" cy="502920"/>
          </a:xfrm>
          <a:prstGeom prst="rect">
            <a:avLst/>
          </a:prstGeom>
          <a:noFill/>
          <a:ln/>
        </p:spPr>
        <p:txBody>
          <a:bodyPr wrap="square" lIns="0" tIns="0" rIns="0" bIns="0" rtlCol="0" anchor="t"/>
          <a:lstStyle/>
          <a:p>
            <a:pPr indent="0" marL="0">
              <a:buNone/>
            </a:pPr>
            <a:r>
              <a:rPr lang="en-US" sz="1250" dirty="0">
                <a:solidFill>
                  <a:schemeClr val="accent4"/>
                </a:solidFill>
              </a:rPr>
              <a:t>abandoned = the same product not bought within 7 days</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The leak is at the cart, not the shelf</a:t>
            </a:r>
            <a:endParaRPr lang="en-US" sz="2600" dirty="0"/>
          </a:p>
        </p:txBody>
      </p:sp>
      <p:graphicFrame>
        <p:nvGraphicFramePr>
          <p:cNvPr id="3" name="Funnel chart" descr=""/>
          <p:cNvGraphicFramePr/>
          <p:nvPr/>
        </p:nvGraphicFramePr>
        <p:xfrm>
          <a:off x="457200" y="109728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4" name="Funnel stat 1"/>
          <p:cNvSpPr txBox="1"/>
          <p:nvPr/>
        </p:nvSpPr>
        <p:spPr>
          <a:xfrm>
            <a:off x="5943600" y="1188720"/>
            <a:ext cx="2743200" cy="502920"/>
          </a:xfrm>
          <a:prstGeom prst="rect">
            <a:avLst/>
          </a:prstGeom>
          <a:noFill/>
          <a:ln/>
        </p:spPr>
        <p:txBody>
          <a:bodyPr wrap="square" lIns="0" tIns="0" rIns="0" bIns="0" rtlCol="0" anchor="ctr"/>
          <a:lstStyle/>
          <a:p>
            <a:pPr indent="0" marL="0">
              <a:buNone/>
            </a:pPr>
            <a:r>
              <a:rPr lang="en-US" sz="3200" b="1" dirty="0">
                <a:solidFill>
                  <a:schemeClr val="tx1"/>
                </a:solidFill>
              </a:rPr>
              <a:t>24.9%</a:t>
            </a:r>
            <a:endParaRPr lang="en-US" sz="3200" dirty="0"/>
          </a:p>
        </p:txBody>
      </p:sp>
      <p:sp>
        <p:nvSpPr>
          <p:cNvPr id="5" name="Funnel text 1"/>
          <p:cNvSpPr txBox="1"/>
          <p:nvPr/>
        </p:nvSpPr>
        <p:spPr>
          <a:xfrm>
            <a:off x="5943600" y="1700784"/>
            <a:ext cx="2743200" cy="457200"/>
          </a:xfrm>
          <a:prstGeom prst="rect">
            <a:avLst/>
          </a:prstGeom>
          <a:noFill/>
          <a:ln/>
        </p:spPr>
        <p:txBody>
          <a:bodyPr wrap="square" lIns="0" tIns="0" rIns="0" bIns="0" rtlCol="0" anchor="t"/>
          <a:lstStyle/>
          <a:p>
            <a:pPr indent="0" marL="0">
              <a:buNone/>
            </a:pPr>
            <a:r>
              <a:rPr lang="en-US" sz="1300" dirty="0">
                <a:solidFill>
                  <a:schemeClr val="accent4"/>
                </a:solidFill>
              </a:rPr>
              <a:t>of viewers add something to a cart</a:t>
            </a:r>
            <a:endParaRPr lang="en-US" sz="1300" dirty="0"/>
          </a:p>
        </p:txBody>
      </p:sp>
      <p:sp>
        <p:nvSpPr>
          <p:cNvPr id="6" name="Funnel stat 2"/>
          <p:cNvSpPr txBox="1"/>
          <p:nvPr/>
        </p:nvSpPr>
        <p:spPr>
          <a:xfrm>
            <a:off x="5943600" y="2267712"/>
            <a:ext cx="2743200" cy="502920"/>
          </a:xfrm>
          <a:prstGeom prst="rect">
            <a:avLst/>
          </a:prstGeom>
          <a:noFill/>
          <a:ln/>
        </p:spPr>
        <p:txBody>
          <a:bodyPr wrap="square" lIns="0" tIns="0" rIns="0" bIns="0" rtlCol="0" anchor="ctr"/>
          <a:lstStyle/>
          <a:p>
            <a:pPr indent="0" marL="0">
              <a:buNone/>
            </a:pPr>
            <a:r>
              <a:rPr lang="en-US" sz="3200" b="1" dirty="0">
                <a:solidFill>
                  <a:schemeClr val="accent1"/>
                </a:solidFill>
              </a:rPr>
              <a:t>27.8%</a:t>
            </a:r>
            <a:endParaRPr lang="en-US" sz="3200" dirty="0"/>
          </a:p>
        </p:txBody>
      </p:sp>
      <p:sp>
        <p:nvSpPr>
          <p:cNvPr id="7" name="Funnel text 2"/>
          <p:cNvSpPr txBox="1"/>
          <p:nvPr/>
        </p:nvSpPr>
        <p:spPr>
          <a:xfrm>
            <a:off x="5943600" y="2779776"/>
            <a:ext cx="2743200" cy="457200"/>
          </a:xfrm>
          <a:prstGeom prst="rect">
            <a:avLst/>
          </a:prstGeom>
          <a:noFill/>
          <a:ln/>
        </p:spPr>
        <p:txBody>
          <a:bodyPr wrap="square" lIns="0" tIns="0" rIns="0" bIns="0" rtlCol="0" anchor="t"/>
          <a:lstStyle/>
          <a:p>
            <a:pPr indent="0" marL="0">
              <a:buNone/>
            </a:pPr>
            <a:r>
              <a:rPr lang="en-US" sz="1300" dirty="0">
                <a:solidFill>
                  <a:schemeClr val="accent4"/>
                </a:solidFill>
              </a:rPr>
              <a:t>of those who add to a cart go on to buy</a:t>
            </a:r>
            <a:endParaRPr lang="en-US" sz="1300" dirty="0"/>
          </a:p>
        </p:txBody>
      </p:sp>
      <p:sp>
        <p:nvSpPr>
          <p:cNvPr id="8" name="Funnel stat 3"/>
          <p:cNvSpPr txBox="1"/>
          <p:nvPr/>
        </p:nvSpPr>
        <p:spPr>
          <a:xfrm>
            <a:off x="5943600" y="3346704"/>
            <a:ext cx="2743200" cy="502920"/>
          </a:xfrm>
          <a:prstGeom prst="rect">
            <a:avLst/>
          </a:prstGeom>
          <a:noFill/>
          <a:ln/>
        </p:spPr>
        <p:txBody>
          <a:bodyPr wrap="square" lIns="0" tIns="0" rIns="0" bIns="0" rtlCol="0" anchor="ctr"/>
          <a:lstStyle/>
          <a:p>
            <a:pPr indent="0" marL="0">
              <a:buNone/>
            </a:pPr>
            <a:r>
              <a:rPr lang="en-US" sz="3200" b="1" dirty="0">
                <a:solidFill>
                  <a:schemeClr val="accent1"/>
                </a:solidFill>
              </a:rPr>
              <a:t>84%</a:t>
            </a:r>
            <a:endParaRPr lang="en-US" sz="3200" dirty="0"/>
          </a:p>
        </p:txBody>
      </p:sp>
      <p:sp>
        <p:nvSpPr>
          <p:cNvPr id="9" name="Funnel text 3"/>
          <p:cNvSpPr txBox="1"/>
          <p:nvPr/>
        </p:nvSpPr>
        <p:spPr>
          <a:xfrm>
            <a:off x="5943600" y="3858768"/>
            <a:ext cx="2743200" cy="457200"/>
          </a:xfrm>
          <a:prstGeom prst="rect">
            <a:avLst/>
          </a:prstGeom>
          <a:noFill/>
          <a:ln/>
        </p:spPr>
        <p:txBody>
          <a:bodyPr wrap="square" lIns="0" tIns="0" rIns="0" bIns="0" rtlCol="0" anchor="t"/>
          <a:lstStyle/>
          <a:p>
            <a:pPr indent="0" marL="0">
              <a:buNone/>
            </a:pPr>
            <a:r>
              <a:rPr lang="en-US" sz="1300" dirty="0">
                <a:solidFill>
                  <a:schemeClr val="accent4"/>
                </a:solidFill>
              </a:rPr>
              <a:t>of sessions with a cart end with no purchase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Half the leak sits in 23 of 465 categories</a:t>
            </a:r>
            <a:endParaRPr lang="en-US" sz="2600" dirty="0"/>
          </a:p>
        </p:txBody>
      </p:sp>
      <p:graphicFrame>
        <p:nvGraphicFramePr>
          <p:cNvPr id="3" name="Pareto chart" descr=""/>
          <p:cNvGraphicFramePr/>
          <p:nvPr/>
        </p:nvGraphicFramePr>
        <p:xfrm>
          <a:off x="457200" y="1097280"/>
          <a:ext cx="8229600" cy="2286000"/>
        </p:xfrm>
        <a:graphic xmlns:a="http://schemas.openxmlformats.org/drawingml/2006/main">
          <a:graphicData uri="http://schemas.openxmlformats.org/drawingml/2006/chart">
            <c:chart xmlns:c="http://schemas.openxmlformats.org/drawingml/2006/chart" r:id="rId1"/>
          </a:graphicData>
        </a:graphic>
      </p:graphicFrame>
      <p:sp>
        <p:nvSpPr>
          <p:cNvPr id="4" name="Stat card 1"/>
          <p:cNvSpPr/>
          <p:nvPr/>
        </p:nvSpPr>
        <p:spPr>
          <a:xfrm>
            <a:off x="457200" y="3520440"/>
            <a:ext cx="2615184" cy="1051560"/>
          </a:xfrm>
          <a:prstGeom prst="roundRect">
            <a:avLst>
              <a:gd name="adj" fmla="val 6957"/>
            </a:avLst>
          </a:prstGeom>
          <a:solidFill>
            <a:schemeClr val="bg2"/>
          </a:solidFill>
          <a:ln w="12700">
            <a:solidFill>
              <a:schemeClr val="bg2"/>
            </a:solidFill>
            <a:prstDash val="solid"/>
          </a:ln>
        </p:spPr>
      </p:sp>
      <p:sp>
        <p:nvSpPr>
          <p:cNvPr id="5" name="Stat number 1"/>
          <p:cNvSpPr txBox="1"/>
          <p:nvPr/>
        </p:nvSpPr>
        <p:spPr>
          <a:xfrm>
            <a:off x="658368" y="3630168"/>
            <a:ext cx="2249424" cy="502920"/>
          </a:xfrm>
          <a:prstGeom prst="rect">
            <a:avLst/>
          </a:prstGeom>
          <a:noFill/>
          <a:ln/>
        </p:spPr>
        <p:txBody>
          <a:bodyPr wrap="square" lIns="0" tIns="0" rIns="0" bIns="0" rtlCol="0" anchor="ctr"/>
          <a:lstStyle/>
          <a:p>
            <a:pPr indent="0" marL="0">
              <a:buNone/>
            </a:pPr>
            <a:r>
              <a:rPr lang="en-US" sz="2600" b="1" dirty="0">
                <a:solidFill>
                  <a:schemeClr val="accent1"/>
                </a:solidFill>
              </a:rPr>
              <a:t>5% → 50%</a:t>
            </a:r>
            <a:endParaRPr lang="en-US" sz="2600" dirty="0"/>
          </a:p>
        </p:txBody>
      </p:sp>
      <p:sp>
        <p:nvSpPr>
          <p:cNvPr id="6" name="Stat text 1"/>
          <p:cNvSpPr txBox="1"/>
          <p:nvPr/>
        </p:nvSpPr>
        <p:spPr>
          <a:xfrm>
            <a:off x="658368" y="4142232"/>
            <a:ext cx="2249424" cy="365760"/>
          </a:xfrm>
          <a:prstGeom prst="rect">
            <a:avLst/>
          </a:prstGeom>
          <a:noFill/>
          <a:ln/>
        </p:spPr>
        <p:txBody>
          <a:bodyPr wrap="square" lIns="0" tIns="0" rIns="0" bIns="0" rtlCol="0" anchor="t"/>
          <a:lstStyle/>
          <a:p>
            <a:pPr indent="0" marL="0">
              <a:buNone/>
            </a:pPr>
            <a:r>
              <a:rPr lang="en-US" sz="1250" dirty="0">
                <a:solidFill>
                  <a:schemeClr val="accent4"/>
                </a:solidFill>
              </a:rPr>
              <a:t>23 categories, 5% of the range, hold half of all unbought value</a:t>
            </a:r>
            <a:endParaRPr lang="en-US" sz="1250" dirty="0"/>
          </a:p>
        </p:txBody>
      </p:sp>
      <p:sp>
        <p:nvSpPr>
          <p:cNvPr id="7" name="Stat card 2"/>
          <p:cNvSpPr/>
          <p:nvPr/>
        </p:nvSpPr>
        <p:spPr>
          <a:xfrm>
            <a:off x="3264408" y="3520440"/>
            <a:ext cx="2615184" cy="1051560"/>
          </a:xfrm>
          <a:prstGeom prst="roundRect">
            <a:avLst>
              <a:gd name="adj" fmla="val 6957"/>
            </a:avLst>
          </a:prstGeom>
          <a:solidFill>
            <a:schemeClr val="bg2"/>
          </a:solidFill>
          <a:ln w="12700">
            <a:solidFill>
              <a:schemeClr val="bg2"/>
            </a:solidFill>
            <a:prstDash val="solid"/>
          </a:ln>
        </p:spPr>
      </p:sp>
      <p:sp>
        <p:nvSpPr>
          <p:cNvPr id="8" name="Stat number 2"/>
          <p:cNvSpPr txBox="1"/>
          <p:nvPr/>
        </p:nvSpPr>
        <p:spPr>
          <a:xfrm>
            <a:off x="3465576" y="3630168"/>
            <a:ext cx="2249424" cy="502920"/>
          </a:xfrm>
          <a:prstGeom prst="rect">
            <a:avLst/>
          </a:prstGeom>
          <a:noFill/>
          <a:ln/>
        </p:spPr>
        <p:txBody>
          <a:bodyPr wrap="square" lIns="0" tIns="0" rIns="0" bIns="0" rtlCol="0" anchor="ctr"/>
          <a:lstStyle/>
          <a:p>
            <a:pPr indent="0" marL="0">
              <a:buNone/>
            </a:pPr>
            <a:r>
              <a:rPr lang="en-US" sz="2600" b="1" dirty="0">
                <a:solidFill>
                  <a:schemeClr val="tx1"/>
                </a:solidFill>
              </a:rPr>
              <a:t>18% → 80%</a:t>
            </a:r>
            <a:endParaRPr lang="en-US" sz="2600" dirty="0"/>
          </a:p>
        </p:txBody>
      </p:sp>
      <p:sp>
        <p:nvSpPr>
          <p:cNvPr id="9" name="Stat text 2"/>
          <p:cNvSpPr txBox="1"/>
          <p:nvPr/>
        </p:nvSpPr>
        <p:spPr>
          <a:xfrm>
            <a:off x="3465576" y="4142232"/>
            <a:ext cx="2249424" cy="365760"/>
          </a:xfrm>
          <a:prstGeom prst="rect">
            <a:avLst/>
          </a:prstGeom>
          <a:noFill/>
          <a:ln/>
        </p:spPr>
        <p:txBody>
          <a:bodyPr wrap="square" lIns="0" tIns="0" rIns="0" bIns="0" rtlCol="0" anchor="t"/>
          <a:lstStyle/>
          <a:p>
            <a:pPr indent="0" marL="0">
              <a:buNone/>
            </a:pPr>
            <a:r>
              <a:rPr lang="en-US" sz="1250" dirty="0">
                <a:solidFill>
                  <a:schemeClr val="accent4"/>
                </a:solidFill>
              </a:rPr>
              <a:t>83 categories hold 80% of it</a:t>
            </a:r>
            <a:endParaRPr lang="en-US" sz="1250" dirty="0"/>
          </a:p>
        </p:txBody>
      </p:sp>
      <p:sp>
        <p:nvSpPr>
          <p:cNvPr id="10" name="Stat card 3"/>
          <p:cNvSpPr/>
          <p:nvPr/>
        </p:nvSpPr>
        <p:spPr>
          <a:xfrm>
            <a:off x="6071616" y="3520440"/>
            <a:ext cx="2615184" cy="1051560"/>
          </a:xfrm>
          <a:prstGeom prst="roundRect">
            <a:avLst>
              <a:gd name="adj" fmla="val 6957"/>
            </a:avLst>
          </a:prstGeom>
          <a:solidFill>
            <a:schemeClr val="bg2"/>
          </a:solidFill>
          <a:ln w="12700">
            <a:solidFill>
              <a:schemeClr val="bg2"/>
            </a:solidFill>
            <a:prstDash val="solid"/>
          </a:ln>
        </p:spPr>
      </p:sp>
      <p:sp>
        <p:nvSpPr>
          <p:cNvPr id="11" name="Stat number 3"/>
          <p:cNvSpPr txBox="1"/>
          <p:nvPr/>
        </p:nvSpPr>
        <p:spPr>
          <a:xfrm>
            <a:off x="6272784" y="3630168"/>
            <a:ext cx="2249424" cy="502920"/>
          </a:xfrm>
          <a:prstGeom prst="rect">
            <a:avLst/>
          </a:prstGeom>
          <a:noFill/>
          <a:ln/>
        </p:spPr>
        <p:txBody>
          <a:bodyPr wrap="square" lIns="0" tIns="0" rIns="0" bIns="0" rtlCol="0" anchor="ctr"/>
          <a:lstStyle/>
          <a:p>
            <a:pPr indent="0" marL="0">
              <a:buNone/>
            </a:pPr>
            <a:r>
              <a:rPr lang="en-US" sz="2600" b="1" dirty="0">
                <a:solidFill>
                  <a:schemeClr val="tx1"/>
                </a:solidFill>
              </a:rPr>
              <a:t>7.3%</a:t>
            </a:r>
            <a:endParaRPr lang="en-US" sz="2600" dirty="0"/>
          </a:p>
        </p:txBody>
      </p:sp>
      <p:sp>
        <p:nvSpPr>
          <p:cNvPr id="12" name="Stat text 3"/>
          <p:cNvSpPr txBox="1"/>
          <p:nvPr/>
        </p:nvSpPr>
        <p:spPr>
          <a:xfrm>
            <a:off x="6272784" y="4142232"/>
            <a:ext cx="2249424" cy="365760"/>
          </a:xfrm>
          <a:prstGeom prst="rect">
            <a:avLst/>
          </a:prstGeom>
          <a:noFill/>
          <a:ln/>
        </p:spPr>
        <p:txBody>
          <a:bodyPr wrap="square" lIns="0" tIns="0" rIns="0" bIns="0" rtlCol="0" anchor="t"/>
          <a:lstStyle/>
          <a:p>
            <a:pPr indent="0" marL="0">
              <a:buNone/>
            </a:pPr>
            <a:r>
              <a:rPr lang="en-US" sz="1250" dirty="0">
                <a:solidFill>
                  <a:schemeClr val="accent4"/>
                </a:solidFill>
              </a:rPr>
              <a:t>the most any single category holds, so there is no one culprit</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Rank by value, not by cart count</a:t>
            </a:r>
            <a:endParaRPr lang="en-US" sz="2600" dirty="0"/>
          </a:p>
        </p:txBody>
      </p:sp>
      <p:graphicFrame>
        <p:nvGraphicFramePr>
          <p:cNvPr id="3" name="Brands chart" descr=""/>
          <p:cNvGraphicFramePr/>
          <p:nvPr/>
        </p:nvGraphicFramePr>
        <p:xfrm>
          <a:off x="457200" y="1097280"/>
          <a:ext cx="4754880" cy="3108960"/>
        </p:xfrm>
        <a:graphic xmlns:a="http://schemas.openxmlformats.org/drawingml/2006/main">
          <a:graphicData uri="http://schemas.openxmlformats.org/drawingml/2006/chart">
            <c:chart xmlns:c="http://schemas.openxmlformats.org/drawingml/2006/chart" r:id="rId1"/>
          </a:graphicData>
        </a:graphic>
      </p:graphicFrame>
      <p:sp>
        <p:nvSpPr>
          <p:cNvPr id="4" name="Strong card"/>
          <p:cNvSpPr/>
          <p:nvPr/>
        </p:nvSpPr>
        <p:spPr>
          <a:xfrm>
            <a:off x="5486400" y="1143000"/>
            <a:ext cx="3200400" cy="1783080"/>
          </a:xfrm>
          <a:prstGeom prst="roundRect">
            <a:avLst>
              <a:gd name="adj" fmla="val 4103"/>
            </a:avLst>
          </a:prstGeom>
          <a:solidFill>
            <a:schemeClr val="bg2"/>
          </a:solidFill>
          <a:ln w="12700">
            <a:solidFill>
              <a:schemeClr val="bg2"/>
            </a:solidFill>
            <a:prstDash val="solid"/>
          </a:ln>
        </p:spPr>
      </p:sp>
      <p:sp>
        <p:nvSpPr>
          <p:cNvPr id="5" name="Strong text"/>
          <p:cNvSpPr txBox="1"/>
          <p:nvPr/>
        </p:nvSpPr>
        <p:spPr>
          <a:xfrm>
            <a:off x="5669280" y="1261872"/>
            <a:ext cx="2834640" cy="1554480"/>
          </a:xfrm>
          <a:prstGeom prst="rect">
            <a:avLst/>
          </a:prstGeom>
          <a:noFill/>
          <a:ln/>
        </p:spPr>
        <p:txBody>
          <a:bodyPr wrap="square" lIns="0" tIns="0" rIns="0" bIns="0" rtlCol="0" anchor="t"/>
          <a:lstStyle/>
          <a:p>
            <a:pPr indent="0" marL="0">
              <a:spcAft>
                <a:spcPts val="400"/>
              </a:spcAft>
              <a:buNone/>
            </a:pPr>
            <a:r>
              <a:rPr lang="en-US" sz="2000" b="1" dirty="0">
                <a:solidFill>
                  <a:schemeClr val="accent1"/>
                </a:solidFill>
              </a:rPr>
              <a:t>strong</a:t>
            </a:r>
            <a:endParaRPr lang="en-US" sz="2000" dirty="0"/>
          </a:p>
          <a:p>
            <a:pPr indent="0" marL="0">
              <a:spcAft>
                <a:spcPts val="400"/>
              </a:spcAft>
              <a:buNone/>
            </a:pPr>
            <a:r>
              <a:rPr lang="en-US" sz="1300" dirty="0">
                <a:solidFill>
                  <a:schemeClr val="tx1"/>
                </a:solidFill>
              </a:rPr>
              <a:t>Only 4,036 carts, yet 3.3% of the leak: about $189 per abandoned cart. A few expensive carts matter more than many cheap ones.</a:t>
            </a:r>
            <a:endParaRPr lang="en-US" sz="2000" dirty="0"/>
          </a:p>
        </p:txBody>
      </p:sp>
      <p:sp>
        <p:nvSpPr>
          <p:cNvPr id="6" name="No brand card"/>
          <p:cNvSpPr/>
          <p:nvPr/>
        </p:nvSpPr>
        <p:spPr>
          <a:xfrm>
            <a:off x="5486400" y="3063240"/>
            <a:ext cx="3200400" cy="1143000"/>
          </a:xfrm>
          <a:prstGeom prst="roundRect">
            <a:avLst>
              <a:gd name="adj" fmla="val 6400"/>
            </a:avLst>
          </a:prstGeom>
          <a:solidFill>
            <a:schemeClr val="bg2"/>
          </a:solidFill>
          <a:ln w="12700">
            <a:solidFill>
              <a:schemeClr val="bg2"/>
            </a:solidFill>
            <a:prstDash val="solid"/>
          </a:ln>
        </p:spPr>
      </p:sp>
      <p:sp>
        <p:nvSpPr>
          <p:cNvPr id="7" name="No brand text"/>
          <p:cNvSpPr txBox="1"/>
          <p:nvPr/>
        </p:nvSpPr>
        <p:spPr>
          <a:xfrm>
            <a:off x="5669280" y="3154680"/>
            <a:ext cx="2834640" cy="960120"/>
          </a:xfrm>
          <a:prstGeom prst="rect">
            <a:avLst/>
          </a:prstGeom>
          <a:noFill/>
          <a:ln/>
        </p:spPr>
        <p:txBody>
          <a:bodyPr wrap="square" lIns="0" tIns="0" rIns="0" bIns="0" rtlCol="0" anchor="t"/>
          <a:lstStyle/>
          <a:p>
            <a:pPr indent="0" marL="0">
              <a:buNone/>
            </a:pPr>
            <a:r>
              <a:rPr lang="en-US" sz="2000" b="1" dirty="0">
                <a:solidFill>
                  <a:schemeClr val="tx1"/>
                </a:solidFill>
              </a:rPr>
              <a:t>40.1% </a:t>
            </a:r>
            <a:pPr indent="0" marL="0">
              <a:buNone/>
            </a:pPr>
            <a:r>
              <a:rPr lang="en-US" sz="1250" dirty="0">
                <a:solidFill>
                  <a:schemeClr val="accent4"/>
                </a:solidFill>
              </a:rPr>
              <a:t>of the leak has no brand recorded, so brand results cover the rest.</a:t>
            </a:r>
            <a:endParaRPr lang="en-US" sz="2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New buyers rarely come back</a:t>
            </a:r>
            <a:endParaRPr lang="en-US" sz="2600" dirty="0"/>
          </a:p>
        </p:txBody>
      </p:sp>
      <p:sp>
        <p:nvSpPr>
          <p:cNvPr id="3" name="Repeat disc"/>
          <p:cNvSpPr/>
          <p:nvPr/>
        </p:nvSpPr>
        <p:spPr>
          <a:xfrm>
            <a:off x="548640" y="1234440"/>
            <a:ext cx="640080" cy="640080"/>
          </a:xfrm>
          <a:prstGeom prst="ellipse">
            <a:avLst/>
          </a:prstGeom>
          <a:solidFill>
            <a:schemeClr val="accent1"/>
          </a:solidFill>
          <a:ln w="12700">
            <a:solidFill>
              <a:schemeClr val="accent1"/>
            </a:solidFill>
            <a:prstDash val="solid"/>
          </a:ln>
        </p:spPr>
      </p:sp>
      <p:pic>
        <p:nvPicPr>
          <p:cNvPr id="4" name="Repeat icon" descr="Repeat">    </p:cNvPr>
          <p:cNvPicPr>
            <a:picLocks noChangeAspect="1"/>
          </p:cNvPicPr>
          <p:nvPr/>
        </p:nvPicPr>
        <p:blipFill>
          <a:blip r:embed="rId1"/>
          <a:stretch>
            <a:fillRect/>
          </a:stretch>
        </p:blipFill>
        <p:spPr>
          <a:xfrm>
            <a:off x="702259" y="1388059"/>
            <a:ext cx="332842" cy="332842"/>
          </a:xfrm>
          <a:prstGeom prst="rect">
            <a:avLst/>
          </a:prstGeom>
        </p:spPr>
      </p:pic>
      <p:sp>
        <p:nvSpPr>
          <p:cNvPr id="5" name="Repeat number"/>
          <p:cNvSpPr txBox="1"/>
          <p:nvPr/>
        </p:nvSpPr>
        <p:spPr>
          <a:xfrm>
            <a:off x="1417320" y="1097280"/>
            <a:ext cx="3200400" cy="868680"/>
          </a:xfrm>
          <a:prstGeom prst="rect">
            <a:avLst/>
          </a:prstGeom>
          <a:noFill/>
          <a:ln/>
        </p:spPr>
        <p:txBody>
          <a:bodyPr wrap="square" lIns="0" tIns="0" rIns="0" bIns="0" rtlCol="0" anchor="ctr"/>
          <a:lstStyle/>
          <a:p>
            <a:pPr indent="0" marL="0">
              <a:buNone/>
            </a:pPr>
            <a:r>
              <a:rPr lang="en-US" sz="5400" b="1" dirty="0">
                <a:solidFill>
                  <a:schemeClr val="accent1"/>
                </a:solidFill>
              </a:rPr>
              <a:t>9.2%</a:t>
            </a:r>
            <a:endParaRPr lang="en-US" sz="5400" dirty="0"/>
          </a:p>
        </p:txBody>
      </p:sp>
      <p:sp>
        <p:nvSpPr>
          <p:cNvPr id="6" name="Repeat text"/>
          <p:cNvSpPr txBox="1"/>
          <p:nvPr/>
        </p:nvSpPr>
        <p:spPr>
          <a:xfrm>
            <a:off x="548640" y="2057400"/>
            <a:ext cx="3931920" cy="731520"/>
          </a:xfrm>
          <a:prstGeom prst="rect">
            <a:avLst/>
          </a:prstGeom>
          <a:noFill/>
          <a:ln/>
        </p:spPr>
        <p:txBody>
          <a:bodyPr wrap="square" lIns="0" tIns="0" rIns="0" bIns="0" rtlCol="0" anchor="t"/>
          <a:lstStyle/>
          <a:p>
            <a:pPr indent="0" marL="0">
              <a:buNone/>
            </a:pPr>
            <a:r>
              <a:rPr lang="en-US" sz="1500" dirty="0">
                <a:solidFill>
                  <a:schemeClr val="tx1"/>
                </a:solidFill>
              </a:rPr>
              <a:t>of November and December first-time buyers bought again the next month.</a:t>
            </a:r>
            <a:endParaRPr lang="en-US" sz="1500" dirty="0"/>
          </a:p>
        </p:txBody>
      </p:sp>
      <p:sp>
        <p:nvSpPr>
          <p:cNvPr id="7" name="Caught card"/>
          <p:cNvSpPr/>
          <p:nvPr/>
        </p:nvSpPr>
        <p:spPr>
          <a:xfrm>
            <a:off x="4846320" y="1143000"/>
            <a:ext cx="3840480" cy="3017520"/>
          </a:xfrm>
          <a:prstGeom prst="roundRect">
            <a:avLst>
              <a:gd name="adj" fmla="val 2424"/>
            </a:avLst>
          </a:prstGeom>
          <a:solidFill>
            <a:schemeClr val="tx2"/>
          </a:solidFill>
          <a:ln w="12700">
            <a:solidFill>
              <a:schemeClr val="tx2"/>
            </a:solidFill>
            <a:prstDash val="solid"/>
          </a:ln>
        </p:spPr>
      </p:sp>
      <p:sp>
        <p:nvSpPr>
          <p:cNvPr id="8" name="Caught text"/>
          <p:cNvSpPr txBox="1"/>
          <p:nvPr/>
        </p:nvSpPr>
        <p:spPr>
          <a:xfrm>
            <a:off x="5074920" y="1325880"/>
            <a:ext cx="3429000" cy="2651760"/>
          </a:xfrm>
          <a:prstGeom prst="rect">
            <a:avLst/>
          </a:prstGeom>
          <a:noFill/>
          <a:ln/>
        </p:spPr>
        <p:txBody>
          <a:bodyPr wrap="square" lIns="0" tIns="0" rIns="0" bIns="0" rtlCol="0" anchor="t"/>
          <a:lstStyle/>
          <a:p>
            <a:pPr indent="0" marL="0">
              <a:spcAft>
                <a:spcPts val="800"/>
              </a:spcAft>
              <a:buNone/>
            </a:pPr>
            <a:r>
              <a:rPr lang="en-US" sz="1300" b="1" dirty="0">
                <a:solidFill>
                  <a:schemeClr val="accent3"/>
                </a:solidFill>
              </a:rPr>
              <a:t>What I caught</a:t>
            </a:r>
            <a:endParaRPr lang="en-US" sz="1300" dirty="0"/>
          </a:p>
          <a:p>
            <a:pPr indent="0" marL="0">
              <a:spcAft>
                <a:spcPts val="800"/>
              </a:spcAft>
              <a:buNone/>
            </a:pPr>
            <a:r>
              <a:rPr lang="en-US" sz="1800" b="1" dirty="0">
                <a:solidFill>
                  <a:schemeClr val="bg1"/>
                </a:solidFill>
              </a:rPr>
              <a:t>October showed 18.5%, twice the rate.</a:t>
            </a:r>
            <a:endParaRPr lang="en-US" sz="1300" dirty="0"/>
          </a:p>
          <a:p>
            <a:pPr indent="0" marL="0">
              <a:spcAft>
                <a:spcPts val="800"/>
              </a:spcAft>
              <a:buNone/>
            </a:pPr>
            <a:r>
              <a:rPr lang="en-US" sz="1350" dirty="0">
                <a:solidFill>
                  <a:schemeClr val="accent5"/>
                </a:solidFill>
              </a:rPr>
              <a:t>The data starts in October, so long-time customers look new that month. I reported it as unreliable instead of as growth.</a:t>
            </a:r>
            <a:endParaRPr lang="en-US" sz="1300" dirty="0"/>
          </a:p>
        </p:txBody>
      </p:sp>
      <p:sp>
        <p:nvSpPr>
          <p:cNvPr id="9" name="Retention note"/>
          <p:cNvSpPr txBox="1"/>
          <p:nvPr/>
        </p:nvSpPr>
        <p:spPr>
          <a:xfrm>
            <a:off x="548640" y="3200400"/>
            <a:ext cx="3931920" cy="731520"/>
          </a:xfrm>
          <a:prstGeom prst="rect">
            <a:avLst/>
          </a:prstGeom>
          <a:noFill/>
          <a:ln/>
        </p:spPr>
        <p:txBody>
          <a:bodyPr wrap="square" lIns="0" tIns="0" rIns="0" bIns="0" rtlCol="0" anchor="t"/>
          <a:lstStyle/>
          <a:p>
            <a:pPr indent="0" marL="0">
              <a:buNone/>
            </a:pPr>
            <a:r>
              <a:rPr lang="en-US" sz="1300" i="1" dirty="0">
                <a:solidFill>
                  <a:schemeClr val="accent4"/>
                </a:solidFill>
              </a:rPr>
              <a:t>A reminder brings back carts; a second-order offer could bring back customers.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A reminder is worth about $91K a month at 10%</a:t>
            </a:r>
            <a:endParaRPr lang="en-US" sz="2600" dirty="0"/>
          </a:p>
        </p:txBody>
      </p:sp>
      <p:graphicFrame>
        <p:nvGraphicFramePr>
          <p:cNvPr id="3" name="Nudge chart" descr=""/>
          <p:cNvGraphicFramePr/>
          <p:nvPr/>
        </p:nvGraphicFramePr>
        <p:xfrm>
          <a:off x="457200" y="109728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4" name="Pricing head"/>
          <p:cNvSpPr txBox="1"/>
          <p:nvPr/>
        </p:nvSpPr>
        <p:spPr>
          <a:xfrm>
            <a:off x="5669280" y="1188720"/>
            <a:ext cx="3017520" cy="320040"/>
          </a:xfrm>
          <a:prstGeom prst="rect">
            <a:avLst/>
          </a:prstGeom>
          <a:noFill/>
          <a:ln/>
        </p:spPr>
        <p:txBody>
          <a:bodyPr wrap="square" lIns="0" tIns="0" rIns="0" bIns="0" rtlCol="0" anchor="ctr"/>
          <a:lstStyle/>
          <a:p>
            <a:pPr indent="0" marL="0">
              <a:buNone/>
            </a:pPr>
            <a:r>
              <a:rPr lang="en-US" sz="1500" b="1" dirty="0">
                <a:solidFill>
                  <a:schemeClr val="tx1"/>
                </a:solidFill>
              </a:rPr>
              <a:t>How it is priced</a:t>
            </a:r>
            <a:endParaRPr lang="en-US" sz="1500" dirty="0"/>
          </a:p>
        </p:txBody>
      </p:sp>
      <p:sp>
        <p:nvSpPr>
          <p:cNvPr id="5" name="Pricing bullets"/>
          <p:cNvSpPr txBox="1"/>
          <p:nvPr/>
        </p:nvSpPr>
        <p:spPr>
          <a:xfrm>
            <a:off x="5669280" y="1600200"/>
            <a:ext cx="301752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Recovered sales × 25% margin, minus $0.01 per reminder to every abandoned cart.</a:t>
            </a:r>
            <a:endParaRPr lang="en-US" sz="1300" dirty="0"/>
          </a:p>
          <a:p>
            <a:pPr marL="342900" indent="-342900">
              <a:spcAft>
                <a:spcPts val="600"/>
              </a:spcAft>
              <a:buSzPct val="100000"/>
              <a:buChar char="•"/>
            </a:pPr>
            <a:r>
              <a:rPr lang="en-US" sz="1300" dirty="0">
                <a:solidFill>
                  <a:schemeClr val="tx1"/>
                </a:solidFill>
              </a:rPr>
              <a:t>At 10%: $393K of sales recovered a month.</a:t>
            </a:r>
            <a:endParaRPr lang="en-US" sz="1300" dirty="0"/>
          </a:p>
          <a:p>
            <a:pPr marL="342900" indent="-342900">
              <a:spcAft>
                <a:spcPts val="600"/>
              </a:spcAft>
              <a:buSzPct val="100000"/>
              <a:buChar char="•"/>
            </a:pPr>
            <a:r>
              <a:rPr lang="en-US" sz="1300" dirty="0">
                <a:solidFill>
                  <a:schemeClr val="tx1"/>
                </a:solidFill>
              </a:rPr>
              <a:t>Margin and cost are my assumptions; the win-back rate is untested.</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Next steps: test, then scale</a:t>
            </a:r>
            <a:endParaRPr lang="en-US" sz="2600" dirty="0"/>
          </a:p>
        </p:txBody>
      </p:sp>
      <p:sp>
        <p:nvSpPr>
          <p:cNvPr id="3" name="Next 1 disc"/>
          <p:cNvSpPr/>
          <p:nvPr/>
        </p:nvSpPr>
        <p:spPr>
          <a:xfrm>
            <a:off x="548640" y="1188720"/>
            <a:ext cx="548640" cy="548640"/>
          </a:xfrm>
          <a:prstGeom prst="ellipse">
            <a:avLst/>
          </a:prstGeom>
          <a:solidFill>
            <a:schemeClr val="accent2"/>
          </a:solidFill>
          <a:ln w="12700">
            <a:solidFill>
              <a:schemeClr val="accent2"/>
            </a:solidFill>
            <a:prstDash val="solid"/>
          </a:ln>
        </p:spPr>
      </p:sp>
      <p:pic>
        <p:nvPicPr>
          <p:cNvPr id="4" name="Next 1 icon" descr="Next 1">    </p:cNvPr>
          <p:cNvPicPr>
            <a:picLocks noChangeAspect="1"/>
          </p:cNvPicPr>
          <p:nvPr/>
        </p:nvPicPr>
        <p:blipFill>
          <a:blip r:embed="rId1"/>
          <a:stretch>
            <a:fillRect/>
          </a:stretch>
        </p:blipFill>
        <p:spPr>
          <a:xfrm>
            <a:off x="680314" y="1320394"/>
            <a:ext cx="285293" cy="285293"/>
          </a:xfrm>
          <a:prstGeom prst="rect">
            <a:avLst/>
          </a:prstGeom>
        </p:spPr>
      </p:pic>
      <p:sp>
        <p:nvSpPr>
          <p:cNvPr id="5" name="Next text 1"/>
          <p:cNvSpPr txBox="1"/>
          <p:nvPr/>
        </p:nvSpPr>
        <p:spPr>
          <a:xfrm>
            <a:off x="1325880" y="1170432"/>
            <a:ext cx="7315200" cy="585216"/>
          </a:xfrm>
          <a:prstGeom prst="rect">
            <a:avLst/>
          </a:prstGeom>
          <a:noFill/>
          <a:ln/>
        </p:spPr>
        <p:txBody>
          <a:bodyPr wrap="square" lIns="0" tIns="0" rIns="0" bIns="0" rtlCol="0" anchor="ctr"/>
          <a:lstStyle/>
          <a:p>
            <a:pPr indent="0" marL="0">
              <a:buNone/>
            </a:pPr>
            <a:r>
              <a:rPr lang="en-US" sz="1500" b="1" dirty="0">
                <a:solidFill>
                  <a:schemeClr val="accent2"/>
                </a:solidFill>
              </a:rPr>
              <a:t>1  </a:t>
            </a:r>
            <a:pPr indent="0" marL="0">
              <a:buNone/>
            </a:pPr>
            <a:r>
              <a:rPr lang="en-US" sz="1500" dirty="0">
                <a:solidFill>
                  <a:schemeClr val="tx1"/>
                </a:solidFill>
              </a:rPr>
              <a:t>Start the reminder with the 23 categories that hold half of the unbought value.</a:t>
            </a:r>
            <a:endParaRPr lang="en-US" sz="1500" dirty="0"/>
          </a:p>
        </p:txBody>
      </p:sp>
      <p:sp>
        <p:nvSpPr>
          <p:cNvPr id="6" name="Next 2 disc"/>
          <p:cNvSpPr/>
          <p:nvPr/>
        </p:nvSpPr>
        <p:spPr>
          <a:xfrm>
            <a:off x="548640" y="1993392"/>
            <a:ext cx="548640" cy="548640"/>
          </a:xfrm>
          <a:prstGeom prst="ellipse">
            <a:avLst/>
          </a:prstGeom>
          <a:solidFill>
            <a:schemeClr val="tx2"/>
          </a:solidFill>
          <a:ln w="12700">
            <a:solidFill>
              <a:schemeClr val="tx2"/>
            </a:solidFill>
            <a:prstDash val="solid"/>
          </a:ln>
        </p:spPr>
      </p:sp>
      <p:pic>
        <p:nvPicPr>
          <p:cNvPr id="7" name="Next 2 icon" descr="Next 2">    </p:cNvPr>
          <p:cNvPicPr>
            <a:picLocks noChangeAspect="1"/>
          </p:cNvPicPr>
          <p:nvPr/>
        </p:nvPicPr>
        <p:blipFill>
          <a:blip r:embed="rId2"/>
          <a:stretch>
            <a:fillRect/>
          </a:stretch>
        </p:blipFill>
        <p:spPr>
          <a:xfrm>
            <a:off x="680314" y="2125066"/>
            <a:ext cx="285293" cy="285293"/>
          </a:xfrm>
          <a:prstGeom prst="rect">
            <a:avLst/>
          </a:prstGeom>
        </p:spPr>
      </p:pic>
      <p:sp>
        <p:nvSpPr>
          <p:cNvPr id="8" name="Next text 2"/>
          <p:cNvSpPr txBox="1"/>
          <p:nvPr/>
        </p:nvSpPr>
        <p:spPr>
          <a:xfrm>
            <a:off x="1325880" y="1975104"/>
            <a:ext cx="7315200" cy="585216"/>
          </a:xfrm>
          <a:prstGeom prst="rect">
            <a:avLst/>
          </a:prstGeom>
          <a:noFill/>
          <a:ln/>
        </p:spPr>
        <p:txBody>
          <a:bodyPr wrap="square" lIns="0" tIns="0" rIns="0" bIns="0" rtlCol="0" anchor="ctr"/>
          <a:lstStyle/>
          <a:p>
            <a:pPr indent="0" marL="0">
              <a:buNone/>
            </a:pPr>
            <a:r>
              <a:rPr lang="en-US" sz="1500" b="1" dirty="0">
                <a:solidFill>
                  <a:schemeClr val="accent2"/>
                </a:solidFill>
              </a:rPr>
              <a:t>2  </a:t>
            </a:r>
            <a:pPr indent="0" marL="0">
              <a:buNone/>
            </a:pPr>
            <a:r>
              <a:rPr lang="en-US" sz="1500" dirty="0">
                <a:solidFill>
                  <a:schemeClr val="tx1"/>
                </a:solidFill>
              </a:rPr>
              <a:t>Run it against a random holdout group, so the real win-back rate replaces my 10% assumption.</a:t>
            </a:r>
            <a:endParaRPr lang="en-US" sz="1500" dirty="0"/>
          </a:p>
        </p:txBody>
      </p:sp>
      <p:sp>
        <p:nvSpPr>
          <p:cNvPr id="9" name="Next 3 disc"/>
          <p:cNvSpPr/>
          <p:nvPr/>
        </p:nvSpPr>
        <p:spPr>
          <a:xfrm>
            <a:off x="548640" y="2798064"/>
            <a:ext cx="548640" cy="548640"/>
          </a:xfrm>
          <a:prstGeom prst="ellipse">
            <a:avLst/>
          </a:prstGeom>
          <a:solidFill>
            <a:schemeClr val="tx2"/>
          </a:solidFill>
          <a:ln w="12700">
            <a:solidFill>
              <a:schemeClr val="tx2"/>
            </a:solidFill>
            <a:prstDash val="solid"/>
          </a:ln>
        </p:spPr>
      </p:sp>
      <p:pic>
        <p:nvPicPr>
          <p:cNvPr id="10" name="Next 3 icon" descr="Next 3">    </p:cNvPr>
          <p:cNvPicPr>
            <a:picLocks noChangeAspect="1"/>
          </p:cNvPicPr>
          <p:nvPr/>
        </p:nvPicPr>
        <p:blipFill>
          <a:blip r:embed="rId3"/>
          <a:stretch>
            <a:fillRect/>
          </a:stretch>
        </p:blipFill>
        <p:spPr>
          <a:xfrm>
            <a:off x="680314" y="2929738"/>
            <a:ext cx="285293" cy="285293"/>
          </a:xfrm>
          <a:prstGeom prst="rect">
            <a:avLst/>
          </a:prstGeom>
        </p:spPr>
      </p:pic>
      <p:sp>
        <p:nvSpPr>
          <p:cNvPr id="11" name="Next text 3"/>
          <p:cNvSpPr txBox="1"/>
          <p:nvPr/>
        </p:nvSpPr>
        <p:spPr>
          <a:xfrm>
            <a:off x="1325880" y="2779776"/>
            <a:ext cx="7315200" cy="585216"/>
          </a:xfrm>
          <a:prstGeom prst="rect">
            <a:avLst/>
          </a:prstGeom>
          <a:noFill/>
          <a:ln/>
        </p:spPr>
        <p:txBody>
          <a:bodyPr wrap="square" lIns="0" tIns="0" rIns="0" bIns="0" rtlCol="0" anchor="ctr"/>
          <a:lstStyle/>
          <a:p>
            <a:pPr indent="0" marL="0">
              <a:buNone/>
            </a:pPr>
            <a:r>
              <a:rPr lang="en-US" sz="1500" b="1" dirty="0">
                <a:solidFill>
                  <a:schemeClr val="accent2"/>
                </a:solidFill>
              </a:rPr>
              <a:t>3  </a:t>
            </a:r>
            <a:pPr indent="0" marL="0">
              <a:buNone/>
            </a:pPr>
            <a:r>
              <a:rPr lang="en-US" sz="1500" dirty="0">
                <a:solidFill>
                  <a:schemeClr val="tx1"/>
                </a:solidFill>
              </a:rPr>
              <a:t>Add a second-order offer for new buyers: only 9.2% come back on their own.</a:t>
            </a:r>
            <a:endParaRPr lang="en-US" sz="1500" dirty="0"/>
          </a:p>
        </p:txBody>
      </p:sp>
      <p:sp>
        <p:nvSpPr>
          <p:cNvPr id="12" name="Next 4 disc"/>
          <p:cNvSpPr/>
          <p:nvPr/>
        </p:nvSpPr>
        <p:spPr>
          <a:xfrm>
            <a:off x="548640" y="3602736"/>
            <a:ext cx="548640" cy="548640"/>
          </a:xfrm>
          <a:prstGeom prst="ellipse">
            <a:avLst/>
          </a:prstGeom>
          <a:solidFill>
            <a:schemeClr val="tx2"/>
          </a:solidFill>
          <a:ln w="12700">
            <a:solidFill>
              <a:schemeClr val="tx2"/>
            </a:solidFill>
            <a:prstDash val="solid"/>
          </a:ln>
        </p:spPr>
      </p:sp>
      <p:pic>
        <p:nvPicPr>
          <p:cNvPr id="13" name="Next 4 icon" descr="Next 4">    </p:cNvPr>
          <p:cNvPicPr>
            <a:picLocks noChangeAspect="1"/>
          </p:cNvPicPr>
          <p:nvPr/>
        </p:nvPicPr>
        <p:blipFill>
          <a:blip r:embed="rId4"/>
          <a:stretch>
            <a:fillRect/>
          </a:stretch>
        </p:blipFill>
        <p:spPr>
          <a:xfrm>
            <a:off x="680314" y="3734410"/>
            <a:ext cx="285293" cy="285293"/>
          </a:xfrm>
          <a:prstGeom prst="rect">
            <a:avLst/>
          </a:prstGeom>
        </p:spPr>
      </p:pic>
      <p:sp>
        <p:nvSpPr>
          <p:cNvPr id="14" name="Next text 4"/>
          <p:cNvSpPr txBox="1"/>
          <p:nvPr/>
        </p:nvSpPr>
        <p:spPr>
          <a:xfrm>
            <a:off x="1325880" y="3584448"/>
            <a:ext cx="7315200" cy="585216"/>
          </a:xfrm>
          <a:prstGeom prst="rect">
            <a:avLst/>
          </a:prstGeom>
          <a:noFill/>
          <a:ln/>
        </p:spPr>
        <p:txBody>
          <a:bodyPr wrap="square" lIns="0" tIns="0" rIns="0" bIns="0" rtlCol="0" anchor="ctr"/>
          <a:lstStyle/>
          <a:p>
            <a:pPr indent="0" marL="0">
              <a:buNone/>
            </a:pPr>
            <a:r>
              <a:rPr lang="en-US" sz="1500" b="1" dirty="0">
                <a:solidFill>
                  <a:schemeClr val="accent2"/>
                </a:solidFill>
              </a:rPr>
              <a:t>4  </a:t>
            </a:r>
            <a:pPr indent="0" marL="0">
              <a:buNone/>
            </a:pPr>
            <a:r>
              <a:rPr lang="en-US" sz="1500" dirty="0">
                <a:solidFill>
                  <a:schemeClr val="tx1"/>
                </a:solidFill>
              </a:rPr>
              <a:t>Fix the data at the source: 42% of events have no brand and 98% no category name.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7863840" cy="1463040"/>
          </a:xfrm>
          <a:prstGeom prst="rect">
            <a:avLst/>
          </a:prstGeom>
          <a:noFill/>
          <a:ln/>
        </p:spPr>
        <p:txBody>
          <a:bodyPr wrap="square" lIns="0" tIns="0" rIns="0" bIns="0" rtlCol="0" anchor="b"/>
          <a:lstStyle/>
          <a:p>
            <a:pPr algn="l" indent="0" marL="0">
              <a:buNone/>
            </a:pPr>
            <a:r>
              <a:rPr lang="en-US" sz="3800" b="1" dirty="0">
                <a:solidFill>
                  <a:schemeClr val="bg1"/>
                </a:solidFill>
              </a:rPr>
              <a:t>Happy to walk you through the SQL</a:t>
            </a:r>
            <a:endParaRPr lang="en-US" sz="3800" dirty="0"/>
          </a:p>
        </p:txBody>
      </p:sp>
      <p:sp>
        <p:nvSpPr>
          <p:cNvPr id="3" name="Text 0"/>
          <p:cNvSpPr/>
          <p:nvPr>
            <p:ph idx="101" type="body" hasCustomPrompt="1"/>
          </p:nvPr>
        </p:nvSpPr>
        <p:spPr>
          <a:xfrm>
            <a:off x="548640" y="2880360"/>
            <a:ext cx="7863840" cy="822960"/>
          </a:xfrm>
          <a:prstGeom prst="rect">
            <a:avLst/>
          </a:prstGeom>
          <a:noFill/>
          <a:ln/>
        </p:spPr>
        <p:txBody>
          <a:bodyPr wrap="square" lIns="0" tIns="0" rIns="0" bIns="0" rtlCol="0" anchor="t"/>
          <a:lstStyle/>
          <a:p>
            <a:pPr algn="l" indent="0" marL="0">
              <a:buNone/>
            </a:pPr>
            <a:r>
              <a:rPr lang="en-US" sz="1800" dirty="0">
                <a:solidFill>
                  <a:schemeClr val="accent5"/>
                </a:solidFill>
              </a:rPr>
              <a:t>Every query is in the repo exactly as it ran in Databricks.</a:t>
            </a:r>
            <a:endParaRPr lang="en-US" sz="1800" dirty="0"/>
          </a:p>
        </p:txBody>
      </p:sp>
      <p:pic>
        <p:nvPicPr>
          <p:cNvPr id="4" name="Link icon 1" descr="github">    </p:cNvPr>
          <p:cNvPicPr>
            <a:picLocks noChangeAspect="1"/>
          </p:cNvPicPr>
          <p:nvPr/>
        </p:nvPicPr>
        <p:blipFill>
          <a:blip r:embed="rId1"/>
          <a:stretch>
            <a:fillRect/>
          </a:stretch>
        </p:blipFill>
        <p:spPr>
          <a:xfrm>
            <a:off x="548640" y="3739896"/>
            <a:ext cx="237744" cy="237744"/>
          </a:xfrm>
          <a:prstGeom prst="rect">
            <a:avLst/>
          </a:prstGeom>
        </p:spPr>
      </p:pic>
      <p:sp>
        <p:nvSpPr>
          <p:cNvPr id="5" name="Link 1">
            <a:hlinkClick r:id="rId2" tooltip=""/>
          </p:cNvPr>
          <p:cNvSpPr txBox="1"/>
          <p:nvPr/>
        </p:nvSpPr>
        <p:spPr>
          <a:xfrm>
            <a:off x="914400" y="3703320"/>
            <a:ext cx="7498080" cy="310896"/>
          </a:xfrm>
          <a:prstGeom prst="rect">
            <a:avLst/>
          </a:prstGeom>
          <a:noFill/>
          <a:ln/>
        </p:spPr>
        <p:txBody>
          <a:bodyPr wrap="square" lIns="0" tIns="0" rIns="0" bIns="0" rtlCol="0" anchor="ctr"/>
          <a:lstStyle/>
          <a:p>
            <a:pPr indent="0" marL="0">
              <a:buNone/>
            </a:pPr>
            <a:r>
              <a:rPr lang="en-US" sz="14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github.com/parthdhawan921-ops/cart-leakage-analysis</a:t>
            </a:r>
            <a:endParaRPr lang="en-US" sz="1400" dirty="0"/>
          </a:p>
        </p:txBody>
      </p:sp>
      <p:pic>
        <p:nvPicPr>
          <p:cNvPr id="6" name="Link icon 2" descr="link">    </p:cNvPr>
          <p:cNvPicPr>
            <a:picLocks noChangeAspect="1"/>
          </p:cNvPicPr>
          <p:nvPr/>
        </p:nvPicPr>
        <p:blipFill>
          <a:blip r:embed="rId3"/>
          <a:stretch>
            <a:fillRect/>
          </a:stretch>
        </p:blipFill>
        <p:spPr>
          <a:xfrm>
            <a:off x="548640" y="4123944"/>
            <a:ext cx="237744" cy="237744"/>
          </a:xfrm>
          <a:prstGeom prst="rect">
            <a:avLst/>
          </a:prstGeom>
        </p:spPr>
      </p:pic>
      <p:sp>
        <p:nvSpPr>
          <p:cNvPr id="7" name="Link 2">
            <a:hlinkClick r:id="rId4" tooltip=""/>
          </p:cNvPr>
          <p:cNvSpPr txBox="1"/>
          <p:nvPr/>
        </p:nvSpPr>
        <p:spPr>
          <a:xfrm>
            <a:off x="914400" y="4087368"/>
            <a:ext cx="7498080" cy="310896"/>
          </a:xfrm>
          <a:prstGeom prst="rect">
            <a:avLst/>
          </a:prstGeom>
          <a:noFill/>
          <a:ln/>
        </p:spPr>
        <p:txBody>
          <a:bodyPr wrap="square" lIns="0" tIns="0" rIns="0" bIns="0" rtlCol="0" anchor="ctr"/>
          <a:lstStyle/>
          <a:p>
            <a:pPr indent="0" marL="0">
              <a:buNone/>
            </a:pPr>
            <a:r>
              <a:rPr lang="en-US" sz="1400" u="sng" dirty="0">
                <a:solidFill>
                  <a:schemeClr val="bg1"/>
                </a:solidFill>
                <a:hlinkClick r:id="rId4" invalidUrl="" action="" tgtFrame="" tooltip="" history="1" highlightClick="0" endSnd="0">
                  <a:extLst>
                    <a:ext uri="{A12FA001-AC4F-418D-AE19-62706E023703}">
                      <ahyp:hlinkClr xmlns:ahyp="http://schemas.microsoft.com/office/drawing/2018/hyperlinkcolor" val="tx"/>
                    </a:ext>
                  </a:extLst>
                </a:hlinkClick>
              </a:rPr>
              <a:t>parthdhawan921-ops.github.io/Parth_Personal/#cart</a:t>
            </a:r>
            <a:endParaRPr lang="en-US" sz="1400" dirty="0"/>
          </a:p>
        </p:txBody>
      </p:sp>
      <p:pic>
        <p:nvPicPr>
          <p:cNvPr id="8" name="Link icon 3" descr="mail">    </p:cNvPr>
          <p:cNvPicPr>
            <a:picLocks noChangeAspect="1"/>
          </p:cNvPicPr>
          <p:nvPr/>
        </p:nvPicPr>
        <p:blipFill>
          <a:blip r:embed="rId5"/>
          <a:stretch>
            <a:fillRect/>
          </a:stretch>
        </p:blipFill>
        <p:spPr>
          <a:xfrm>
            <a:off x="548640" y="4507992"/>
            <a:ext cx="237744" cy="237744"/>
          </a:xfrm>
          <a:prstGeom prst="rect">
            <a:avLst/>
          </a:prstGeom>
        </p:spPr>
      </p:pic>
      <p:sp>
        <p:nvSpPr>
          <p:cNvPr id="9" name="Link 3">
            <a:hlinkClick r:id="rId6" tooltip=""/>
          </p:cNvPr>
          <p:cNvSpPr txBox="1"/>
          <p:nvPr/>
        </p:nvSpPr>
        <p:spPr>
          <a:xfrm>
            <a:off x="914400" y="4471416"/>
            <a:ext cx="7498080" cy="310896"/>
          </a:xfrm>
          <a:prstGeom prst="rect">
            <a:avLst/>
          </a:prstGeom>
          <a:noFill/>
          <a:ln/>
        </p:spPr>
        <p:txBody>
          <a:bodyPr wrap="square" lIns="0" tIns="0" rIns="0" bIns="0" rtlCol="0" anchor="ctr"/>
          <a:lstStyle/>
          <a:p>
            <a:pPr indent="0" marL="0">
              <a:buNone/>
            </a:pPr>
            <a:r>
              <a:rPr lang="en-US" sz="1400" u="sng" dirty="0">
                <a:solidFill>
                  <a:schemeClr val="bg1"/>
                </a:solidFill>
                <a:hlinkClick r:id="rId6" invalidUrl="" action="" tgtFrame="" tooltip="" history="1" highlightClick="0" endSnd="0">
                  <a:extLst>
                    <a:ext uri="{A12FA001-AC4F-418D-AE19-62706E023703}">
                      <ahyp:hlinkClr xmlns:ahyp="http://schemas.microsoft.com/office/drawing/2018/hyperlinkcolor" val="tx"/>
                    </a:ext>
                  </a:extLst>
                </a:hlinkClick>
              </a:rPr>
              <a:t>parthdhawan921@gmail.com  ·  +91 70823 35959</a:t>
            </a:r>
            <a:endParaRPr lang="en-US" sz="1400" dirty="0"/>
          </a:p>
        </p:txBody>
      </p:sp>
    </p:spTree>
  </p:cSld>
  <p:clrMapOvr>
    <a:masterClrMapping/>
  </p:clrMapOvr>
</p:sld>
</file>

<file path=ppt/theme/theme1.xml><?xml version="1.0" encoding="utf-8"?>
<a:theme xmlns:a="http://schemas.openxmlformats.org/drawingml/2006/main" name="Cart Plum">
  <a:themeElements>
    <a:clrScheme name="Cart Plum">
      <a:dk1>
        <a:srgbClr val="231B2E"/>
      </a:dk1>
      <a:lt1>
        <a:srgbClr val="FFFFFF"/>
      </a:lt1>
      <a:dk2>
        <a:srgbClr val="2A1E3B"/>
      </a:dk2>
      <a:lt2>
        <a:srgbClr val="F4F1F7"/>
      </a:lt2>
      <a:accent1>
        <a:srgbClr val="D9502E"/>
      </a:accent1>
      <a:accent2>
        <a:srgbClr val="1F8F7E"/>
      </a:accent2>
      <a:accent3>
        <a:srgbClr val="E8A631"/>
      </a:accent3>
      <a:accent4>
        <a:srgbClr val="6B6476"/>
      </a:accent4>
      <a:accent5>
        <a:srgbClr val="C9B8E0"/>
      </a:accent5>
      <a:accent6>
        <a:srgbClr val="3C6E9F"/>
      </a:accent6>
      <a:hlink>
        <a:srgbClr val="1F8F7E"/>
      </a:hlink>
      <a:folHlink>
        <a:srgbClr val="6B6476"/>
      </a:folHlink>
    </a:clrScheme>
    <a:fontScheme name="Cart Plum">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Cart leakage and retention analysis</dc:title>
  <dc:subject>PptxGenJS Presentation</dc:subject>
  <dc:creator>Parth Dhawan</dc:creator>
  <cp:lastModifiedBy>Parth Dhawan</cp:lastModifiedBy>
  <cp:revision>1</cp:revision>
  <dcterms:created xsi:type="dcterms:W3CDTF">2026-10-25T08:44:36Z</dcterms:created>
  <dcterms:modified xsi:type="dcterms:W3CDTF">2026-10-25T08:44:36Z</dcterms:modified>
</cp:coreProperties>
</file>